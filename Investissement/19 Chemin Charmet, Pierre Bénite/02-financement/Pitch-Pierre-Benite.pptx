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Cash flow cumulé (K€)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Fin An 1</c:v>
                </c:pt>
                <c:pt idx="1">
                  <c:v>Fin An 2</c:v>
                </c:pt>
                <c:pt idx="2">
                  <c:v>Fin An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129</c:v>
                </c:pt>
                <c:pt idx="2">
                  <c:v>215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Georgia"/>
              </a:rPr>
              <a:t>PIERRE-BÉNITE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0">
                <a:solidFill>
                  <a:srgbClr val="C9A961"/>
                </a:solidFill>
                <a:latin typeface="Calibri"/>
              </a:rPr>
              <a:t>19 Chemin Charmet — limite Saint-Genis-Laval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Projet d'investissement immobilier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C9A961"/>
                </a:solidFill>
                <a:latin typeface="Calibri"/>
              </a:rPr>
              <a:t>Marc Chenut  &amp;  Antoine Bocquet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36454F"/>
                </a:solidFill>
                <a:latin typeface="Georgia"/>
              </a:rPr>
              <a:t>L'opportunité en bref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212080" cy="210312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846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Calibri"/>
              </a:rPr>
              <a:t>DÉCOTE À L'ACHAT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84632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1 167 €/m² acheté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vs 4 752 €/m² médiane maison Saint-Genis-Laval (DVF)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→ -75 % vs marché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737360"/>
            <a:ext cx="5212080" cy="21031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4846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212A33"/>
                </a:solidFill>
                <a:latin typeface="Calibri"/>
              </a:rPr>
              <a:t>PLUS-VALUE LATENTE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468880"/>
            <a:ext cx="484632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A33"/>
                </a:solidFill>
                <a:latin typeface="Calibri"/>
              </a:rPr>
              <a:t>Prêt sollicité :    588 K€</a:t>
            </a:r>
          </a:p>
          <a:p>
            <a:pPr algn="l"/>
            <a:r>
              <a:rPr sz="1300" b="0">
                <a:solidFill>
                  <a:srgbClr val="212A33"/>
                </a:solidFill>
                <a:latin typeface="Calibri"/>
              </a:rPr>
              <a:t>Valeur revente :   1 260 K€</a:t>
            </a:r>
          </a:p>
          <a:p>
            <a:pPr algn="l"/>
            <a:r>
              <a:rPr sz="1300" b="0">
                <a:solidFill>
                  <a:srgbClr val="212A33"/>
                </a:solidFill>
                <a:latin typeface="Calibri"/>
              </a:rPr>
              <a:t>→ Marge : +672 K€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14800"/>
            <a:ext cx="5212080" cy="2103120"/>
          </a:xfrm>
          <a:prstGeom prst="rect">
            <a:avLst/>
          </a:prstGeom>
          <a:solidFill>
            <a:srgbClr val="00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97680"/>
            <a:ext cx="4846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Calibri"/>
              </a:rPr>
              <a:t>CASH FLOW LCD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46320"/>
            <a:ext cx="484632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Revenus net charges :   +10 712 €/mois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Mensualité prêt :              -3 502 €/mois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→ Cash flow : +7 210 €/mois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4114800"/>
            <a:ext cx="5212080" cy="2103120"/>
          </a:xfrm>
          <a:prstGeom prst="rect">
            <a:avLst/>
          </a:prstGeom>
          <a:solidFill>
            <a:srgbClr val="21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297680"/>
            <a:ext cx="4846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Calibri"/>
              </a:rPr>
              <a:t>CASH FLOW LONGUE DURÉE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846320"/>
            <a:ext cx="484632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Loyers (T2 + T3) :          +5 450 €/mois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Charges + Prêt :              -4 081 €/mois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→ Cash flow : +1 369 €/mois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36454F"/>
                </a:solidFill>
                <a:latin typeface="Georgia"/>
              </a:rPr>
              <a:t>L'équipe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Profils complémentaires — opérateur LCD + expert travaux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2120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36454F"/>
                </a:solidFill>
                <a:latin typeface="Georgia"/>
              </a:rPr>
              <a:t>Marc Chenut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C9A961"/>
                </a:solidFill>
                <a:latin typeface="Calibri"/>
              </a:rPr>
              <a:t>Opérateur LCD — 6 ans d'expérience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97 % d'occupation prouvée sur 4 opérations actives à Lyon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Auteur du livre « La Méthode 97 % »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Salarié Neocamino (3 000 € /mois net)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Société M&amp;Ms : bénéfice ~30 K€/an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Trésorerie disponible : 100 K€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2120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36454F"/>
                </a:solidFill>
                <a:latin typeface="Georgia"/>
              </a:rPr>
              <a:t>Antoine Bocquet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C9A961"/>
                </a:solidFill>
                <a:latin typeface="Calibri"/>
              </a:rPr>
              <a:t>Directeur Rhône-Alpes — RenovationMan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803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Réseau d'artisans → travaux -50 % vs particulier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Maîtrise délais et qualité de rénovation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EURL personnelle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Compagne actuaire : 7 000 €/mois net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Trésorerie disponible : 100 K€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36454F"/>
                </a:solidFill>
                <a:latin typeface="Georgia"/>
              </a:rPr>
              <a:t>Le bien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Maison ~300 m² — limite Saint-Genis-Laval — 10 min métro Lyon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1208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6454F"/>
                </a:solidFill>
                <a:latin typeface="Calibri"/>
              </a:rPr>
              <a:t>ADRESSE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19 Chemin Charmet, 69310 Pierre-Bénite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21208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1168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6454F"/>
                </a:solidFill>
                <a:latin typeface="Calibri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77440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~300 m²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46120"/>
            <a:ext cx="521208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2900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6454F"/>
                </a:solidFill>
                <a:latin typeface="Calibri"/>
              </a:rPr>
              <a:t>MARCHÉ DE RÉFÉRENCE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94759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Saint-Genis-Laval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246120"/>
            <a:ext cx="521208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42900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6454F"/>
                </a:solidFill>
                <a:latin typeface="Calibri"/>
              </a:rPr>
              <a:t>ACCÈS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94759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10 min à pied du métro Lyon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63440"/>
            <a:ext cx="521208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6454F"/>
                </a:solidFill>
                <a:latin typeface="Calibri"/>
              </a:rPr>
              <a:t>DIVISION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12079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5 lots — 3 T3 (dont 2 avec jardin) + 2 T2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663440"/>
            <a:ext cx="521208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84632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6454F"/>
                </a:solidFill>
                <a:latin typeface="Calibri"/>
              </a:rPr>
              <a:t>STANDING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212079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Rénovation haut de gamme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36454F"/>
                </a:solidFill>
                <a:latin typeface="Georgia"/>
              </a:rPr>
              <a:t>Le marché — Saint-Genis-Laval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DVF / MeilleursAgents / efficity — mai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0972800" cy="13716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C9A961"/>
                </a:solidFill>
                <a:latin typeface="Calibri"/>
              </a:rPr>
              <a:t>Prix m² appartements Saint-Genis-Laval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728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Médiane 3 480 €/m²  —  Moyenne 3 950 €/m²  —  Top quartiers jusqu'à 4 991 €/m²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5212080" cy="128016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212A33"/>
                </a:solidFill>
                <a:latin typeface="Calibri"/>
              </a:rPr>
              <a:t>NOTRE ACHAT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5212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600" b="1">
                <a:solidFill>
                  <a:srgbClr val="212A33"/>
                </a:solidFill>
                <a:latin typeface="Georgia"/>
              </a:rPr>
              <a:t>1 167 €/m²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5212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12A33"/>
                </a:solidFill>
                <a:latin typeface="Calibri"/>
              </a:rPr>
              <a:t>soit -75 % vs médiane maison Saint-Genis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383280"/>
            <a:ext cx="5212080" cy="1280160"/>
          </a:xfrm>
          <a:prstGeom prst="rect">
            <a:avLst/>
          </a:prstGeom>
          <a:solidFill>
            <a:srgbClr val="00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NOTRE REVENTE CIBLE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80"/>
            <a:ext cx="5212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4 200 €/m²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43400"/>
            <a:ext cx="5212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300 m² × 4 200 = 1 260 K€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5029200"/>
            <a:ext cx="7589520" cy="1371600"/>
          </a:xfrm>
          <a:prstGeom prst="rect">
            <a:avLst/>
          </a:prstGeom>
          <a:solidFill>
            <a:srgbClr val="21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5120640"/>
            <a:ext cx="7589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C9A961"/>
                </a:solidFill>
                <a:latin typeface="Calibri"/>
              </a:rPr>
              <a:t>PLUS-VALUE LATENTE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486400"/>
            <a:ext cx="7589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+ 522 K€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6126480"/>
            <a:ext cx="7589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C9A961"/>
                </a:solidFill>
                <a:latin typeface="Calibri"/>
              </a:rPr>
              <a:t>soit +71 % de marge sur le coût total opération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36454F"/>
                </a:solidFill>
                <a:latin typeface="Georgia"/>
              </a:rPr>
              <a:t>Marché hôtelier — Zone de chalandise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Marché 2-3 étoiles : dormir 1-2 nuits, propre, calme, prix correct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7132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Hôtel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59" y="1828800"/>
            <a:ext cx="1554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Catégorie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19" y="1828800"/>
            <a:ext cx="1645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Chambres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10881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267712"/>
            <a:ext cx="7132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Calibri"/>
              </a:rPr>
              <a:t>Ibis Styles Lyon Sud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267712"/>
            <a:ext cx="1554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3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19" y="2267712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115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10881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633472"/>
            <a:ext cx="7132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Calibri"/>
              </a:rPr>
              <a:t>Première Classe Irigny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2633472"/>
            <a:ext cx="1554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2 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19" y="2633472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106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926080"/>
            <a:ext cx="10881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2999232"/>
            <a:ext cx="7132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Calibri"/>
              </a:rPr>
              <a:t>Kyriad Lyon Sud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2999232"/>
            <a:ext cx="1554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3 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19" y="2999232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61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3364992"/>
            <a:ext cx="7132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Calibri"/>
              </a:rPr>
              <a:t>Ibis Budget Saint-Genis-Laval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3364992"/>
            <a:ext cx="1554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2 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3364992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57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3730752"/>
            <a:ext cx="7132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Calibri"/>
              </a:rPr>
              <a:t>Ibis Budget Lyon Sud — Saint-Fons A7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3730752"/>
            <a:ext cx="1554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2 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19" y="3730752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42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4096512"/>
            <a:ext cx="7132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Calibri"/>
              </a:rPr>
              <a:t>Hotel Lyon Sud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9" y="4096512"/>
            <a:ext cx="1554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3 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19" y="4096512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40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389120"/>
            <a:ext cx="10881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4462272"/>
            <a:ext cx="7132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Calibri"/>
              </a:rPr>
              <a:t>Le Saint Vincent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59" y="4462272"/>
            <a:ext cx="1554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2 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9" y="4462272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32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754880"/>
            <a:ext cx="10881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4828032"/>
            <a:ext cx="7132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Calibri"/>
              </a:rPr>
              <a:t>Campanile Prime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59" y="4828032"/>
            <a:ext cx="1554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3 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19" y="4828032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~70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" y="5193792"/>
            <a:ext cx="7132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Calibri"/>
              </a:rPr>
              <a:t>Hotel Muse La Baguette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59" y="5193792"/>
            <a:ext cx="1554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2-3 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19" y="5193792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~30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59" y="5559552"/>
            <a:ext cx="7132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12A33"/>
                </a:solidFill>
                <a:latin typeface="Calibri"/>
              </a:rPr>
              <a:t>TOTAL chambres concurrentes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59" y="5559552"/>
            <a:ext cx="1554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12A33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19" y="5559552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12A33"/>
                </a:solidFill>
                <a:latin typeface="Calibri"/>
              </a:rPr>
              <a:t>~553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6035040"/>
            <a:ext cx="10972800" cy="640080"/>
          </a:xfrm>
          <a:prstGeom prst="rect">
            <a:avLst/>
          </a:prstGeom>
          <a:solidFill>
            <a:srgbClr val="21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6080760"/>
            <a:ext cx="10698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C9A961"/>
                </a:solidFill>
                <a:latin typeface="Calibri"/>
              </a:rPr>
              <a:t>Hôtel rentable dès 60 % d'occupation → ~330 chambres louées/jour sur le marché.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6355080"/>
            <a:ext cx="10698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Notre offre : 5 lots × 97 % d'occupation = 4,85 lots/jour, soit 1,5 % du flux concurrent — pas de saturation.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36454F"/>
                </a:solidFill>
                <a:latin typeface="Georgia"/>
              </a:rPr>
              <a:t>Plan de financement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Coût total 738 K€ — apport 150 K€ — emprunt 588 K€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65960"/>
            <a:ext cx="5257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Poste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965960"/>
            <a:ext cx="4343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Montant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46888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333333"/>
                </a:solidFill>
                <a:latin typeface="Calibri"/>
              </a:rPr>
              <a:t>350 000 €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92608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Frais de notaire (8 %)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333333"/>
                </a:solidFill>
                <a:latin typeface="Calibri"/>
              </a:rPr>
              <a:t>28 000 €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38328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Travaux (rénovation HG)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8328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333333"/>
                </a:solidFill>
                <a:latin typeface="Calibri"/>
              </a:rPr>
              <a:t>300 000 €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840479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Ameublement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840479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333333"/>
                </a:solidFill>
                <a:latin typeface="Calibri"/>
              </a:rPr>
              <a:t>50 000 €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297679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Frais bancaires (dossier + caution)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297679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333333"/>
                </a:solidFill>
                <a:latin typeface="Calibri"/>
              </a:rPr>
              <a:t>10 000 €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754879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12A33"/>
                </a:solidFill>
                <a:latin typeface="Calibri"/>
              </a:rPr>
              <a:t>COÛT TOTAL OPÉRATION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754879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212A33"/>
                </a:solidFill>
                <a:latin typeface="Calibri"/>
              </a:rPr>
              <a:t>738 000 €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212079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Apport (Marc 75 K + Antoine 75 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212079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333333"/>
                </a:solidFill>
                <a:latin typeface="Calibri"/>
              </a:rPr>
              <a:t>150 000 €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5669279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12A33"/>
                </a:solidFill>
                <a:latin typeface="Calibri"/>
              </a:rPr>
              <a:t>EMPRUNT SOLLICITÉ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669279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212A33"/>
                </a:solidFill>
                <a:latin typeface="Calibri"/>
              </a:rPr>
              <a:t>588 000 €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36454F"/>
                </a:solidFill>
                <a:latin typeface="Georgia"/>
              </a:rPr>
              <a:t>Plan A — LCD  &amp;  Plan B — Location longue durée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Revenus mensuels — régime plein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548640"/>
          </a:xfrm>
          <a:prstGeom prst="rect">
            <a:avLst/>
          </a:prstGeom>
          <a:solidFill>
            <a:srgbClr val="00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PLAN A — Location courte durée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5059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Revenus NET de charges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400" b="1">
                <a:solidFill>
                  <a:srgbClr val="333333"/>
                </a:solidFill>
                <a:latin typeface="Calibri"/>
              </a:rPr>
              <a:t>+10 712 €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548640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9067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Mensualité prêt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06324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400" b="1">
                <a:solidFill>
                  <a:srgbClr val="333333"/>
                </a:solidFill>
                <a:latin typeface="Calibri"/>
              </a:rPr>
              <a:t>-3 502 €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5486400" cy="640080"/>
          </a:xfrm>
          <a:prstGeom prst="rect">
            <a:avLst/>
          </a:prstGeom>
          <a:solidFill>
            <a:srgbClr val="00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3075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Cash flow AVANT IMPÔT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7033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alibri"/>
              </a:rPr>
              <a:t>+7 210 €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737360"/>
            <a:ext cx="5486400" cy="54864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828800"/>
            <a:ext cx="5486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PLAN B — Location longue durée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286000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350008"/>
            <a:ext cx="3200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Loyer T2 (2 lots × 850 €)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350008"/>
            <a:ext cx="1828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333333"/>
                </a:solidFill>
                <a:latin typeface="Calibri"/>
              </a:rPr>
              <a:t>+1 700 €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697480"/>
            <a:ext cx="54864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761488"/>
            <a:ext cx="3200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Loyer T3 (3 lots × 1 250 €)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761488"/>
            <a:ext cx="1828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333333"/>
                </a:solidFill>
                <a:latin typeface="Calibri"/>
              </a:rPr>
              <a:t>+3 750 €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108960"/>
            <a:ext cx="54864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172968"/>
            <a:ext cx="3200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Calibri"/>
              </a:rPr>
              <a:t>    Total loyers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172968"/>
            <a:ext cx="1828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36454F"/>
                </a:solidFill>
                <a:latin typeface="Calibri"/>
              </a:rPr>
              <a:t>+5 450 €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520440"/>
            <a:ext cx="54864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84448"/>
            <a:ext cx="3200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Charges propriétaire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584448"/>
            <a:ext cx="1828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333333"/>
                </a:solidFill>
                <a:latin typeface="Calibri"/>
              </a:rPr>
              <a:t>-579 €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931920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995928"/>
            <a:ext cx="3200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Mensualité prêt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995928"/>
            <a:ext cx="1828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333333"/>
                </a:solidFill>
                <a:latin typeface="Calibri"/>
              </a:rPr>
              <a:t>-3 502 €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343400"/>
            <a:ext cx="5486400" cy="41148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407408"/>
            <a:ext cx="3200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Cash flow AVANT IMPÔT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407408"/>
            <a:ext cx="1828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+1 369 €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Calibri"/>
              </a:rPr>
              <a:t>Plan B (location nue meublée valeurs marché Saint-Genis) sécurise le projet : couvre intégralement crédit et charges.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36454F"/>
                </a:solidFill>
                <a:latin typeface="Georgia"/>
              </a:rPr>
              <a:t>Cash flow projet — Cumulé sur 3 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Travaux M1-M6 + Montée M7-M9 + Régime plein M10+ / Différé partiel 18 mois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371600" y="1828800"/>
          <a:ext cx="9144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07033"/>
                </a:solidFill>
                <a:latin typeface="Calibri"/>
              </a:rPr>
              <a:t>Cumulé fin An 3 : ~215 K€ de cash flow projet généré (avant impôt)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36454F"/>
                </a:solidFill>
                <a:latin typeface="Georgia"/>
              </a:rPr>
              <a:t>Structure juridique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4 sociétés à constituer — séparation patrimoine / exploitation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828800"/>
            <a:ext cx="3200400" cy="9144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Holding Marc (SAS)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3172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C9A961"/>
                </a:solidFill>
                <a:latin typeface="Calibri"/>
              </a:rPr>
              <a:t>50 %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828800"/>
            <a:ext cx="3200400" cy="9144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92024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Holding Antoine (SAS)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3172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C9A961"/>
                </a:solidFill>
                <a:latin typeface="Calibri"/>
              </a:rPr>
              <a:t>50 %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2743200"/>
            <a:ext cx="2057400" cy="640080"/>
          </a:xfrm>
          <a:prstGeom prst="line">
            <a:avLst/>
          </a:prstGeom>
          <a:ln w="25400">
            <a:solidFill>
              <a:srgbClr val="364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315200" y="2743200"/>
            <a:ext cx="2057400" cy="640080"/>
          </a:xfrm>
          <a:prstGeom prst="line">
            <a:avLst/>
          </a:prstGeom>
          <a:ln w="25400">
            <a:solidFill>
              <a:srgbClr val="364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572000" y="3383280"/>
            <a:ext cx="3200400" cy="91440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47472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212A33"/>
                </a:solidFill>
                <a:latin typeface="Georgia"/>
              </a:rPr>
              <a:t>SCI à l'IS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88620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12A33"/>
                </a:solidFill>
                <a:latin typeface="Calibri"/>
              </a:rPr>
              <a:t>Détient le bien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72200" y="4297680"/>
            <a:ext cx="0" cy="731520"/>
          </a:xfrm>
          <a:prstGeom prst="line">
            <a:avLst/>
          </a:prstGeom>
          <a:ln w="25400">
            <a:solidFill>
              <a:srgbClr val="364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0" y="448056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C9A961"/>
                </a:solidFill>
                <a:latin typeface="Calibri"/>
              </a:rPr>
              <a:t>bail commercial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5029200"/>
            <a:ext cx="3200400" cy="9144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512064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SAS Conciergerie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53212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C9A961"/>
                </a:solidFill>
                <a:latin typeface="Calibri"/>
              </a:rPr>
              <a:t>Exploite — encaisse Airbnb/Booking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Séparation propriétaire / exploitant : protection patrimoine + optimisation fiscale (mère-fille)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36454F"/>
                </a:solidFill>
                <a:latin typeface="Georgia"/>
              </a:rPr>
              <a:t>Stratégie fiscale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IS 15 % partout — bénéfices équilibrés sous seuil 42 500 €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212080" cy="9144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4846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Conciergerie SAS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8600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Bénéfice ~42 K€/an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Calibri"/>
              </a:rPr>
              <a:t>•  CA Airbnb / Booking en direct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29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Calibri"/>
              </a:rPr>
              <a:t>•  Charges variables (ménage, blanchisserie...)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023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Calibri"/>
              </a:rPr>
              <a:t>•  Loyer commercial → SCI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617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Calibri"/>
              </a:rPr>
              <a:t>•  IS 15 % : ~6 400 €/an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91640"/>
            <a:ext cx="5212080" cy="91440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4846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212A33"/>
                </a:solidFill>
                <a:latin typeface="Georgia"/>
              </a:rPr>
              <a:t>SCI à l'IS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212A33"/>
                </a:solidFill>
                <a:latin typeface="Calibri"/>
              </a:rPr>
              <a:t>Bénéfice ~23 K€/an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Calibri"/>
              </a:rPr>
              <a:t>•  Encaisse loyer commercial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29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Calibri"/>
              </a:rPr>
              <a:t>•  Amort. bât. 30 ans + travaux 15 ans + mobilier 10 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23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Calibri"/>
              </a:rPr>
              <a:t>•  Intérêts emprunt déductibles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617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Calibri"/>
              </a:rPr>
              <a:t>•  IS 15 % : ~3 400 €/an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07033"/>
                </a:solidFill>
                <a:latin typeface="Calibri"/>
              </a:rPr>
              <a:t>Total IS : ~9 800 €/an (15 % consolidé) au lieu de 25 % si on dépassait le seuil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Georgia"/>
              </a:rPr>
              <a:t>Notre demande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C9A961"/>
                </a:solidFill>
                <a:latin typeface="Calibri"/>
              </a:rPr>
              <a:t>Conditions d'emprunt souhaitées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2560320" cy="11887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874519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212A33"/>
                </a:solidFill>
                <a:latin typeface="Calibri"/>
              </a:rPr>
              <a:t>MONTANT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194560"/>
            <a:ext cx="2377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12A33"/>
                </a:solidFill>
                <a:latin typeface="Georgia"/>
              </a:rPr>
              <a:t>588 K€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737360"/>
            <a:ext cx="2560320" cy="11887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874519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212A33"/>
                </a:solidFill>
                <a:latin typeface="Calibri"/>
              </a:rPr>
              <a:t>DURÉE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94560"/>
            <a:ext cx="2377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12A33"/>
                </a:solidFill>
                <a:latin typeface="Georgia"/>
              </a:rPr>
              <a:t>20 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2560320" cy="11887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874519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212A33"/>
                </a:solidFill>
                <a:latin typeface="Calibri"/>
              </a:rPr>
              <a:t>TAUX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194560"/>
            <a:ext cx="2377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12A33"/>
                </a:solidFill>
                <a:latin typeface="Georgia"/>
              </a:rPr>
              <a:t>3,8 % visé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39" y="1737360"/>
            <a:ext cx="2560320" cy="11887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79" y="1874519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212A33"/>
                </a:solidFill>
                <a:latin typeface="Calibri"/>
              </a:rPr>
              <a:t>DIFFÉRÉ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79" y="2194560"/>
            <a:ext cx="2377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12A33"/>
                </a:solidFill>
                <a:latin typeface="Georgia"/>
              </a:rPr>
              <a:t>18 mois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91840"/>
            <a:ext cx="10972800" cy="3200400"/>
          </a:xfrm>
          <a:prstGeom prst="rect">
            <a:avLst/>
          </a:prstGeom>
          <a:solidFill>
            <a:srgbClr val="21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383280"/>
            <a:ext cx="10607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C9A961"/>
                </a:solidFill>
                <a:latin typeface="Georgia"/>
              </a:rPr>
              <a:t>Nous cherchons un partenaire bancaire long terme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•  Plusieurs opérations prévues (professionnalisation de notre activité LCD / LMNP)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•  Pierre-Bénite = première opération commune Marc &amp; Antoine d'une série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•  Approche structurée et chiffrée — montée en charge maîtrisée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12080"/>
            <a:ext cx="10607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Calibri"/>
              </a:rPr>
              <a:t>Contrepartie commerciale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alibri"/>
              </a:rPr>
              <a:t>✓  Rapatriement de nos comptes professionnels (Marc + Antoine + sociétés)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alibri"/>
              </a:rPr>
              <a:t>✓  Cartes bancaires pro et perso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alibri"/>
              </a:rPr>
              <a:t>✓  Prévoyance, assurances, produits patrimoniaux à terme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Georgia"/>
              </a:rPr>
              <a:t>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0">
                <a:solidFill>
                  <a:srgbClr val="C9A961"/>
                </a:solidFill>
                <a:latin typeface="Calibri"/>
              </a:rPr>
              <a:t>À votre disposition pour échanger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0">
                <a:solidFill>
                  <a:srgbClr val="C9A961"/>
                </a:solidFill>
                <a:latin typeface="Calibri"/>
              </a:rPr>
              <a:t>Marc Chenut  &amp;  Antoine Bocquet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Annexes : BP financier détaillé (Excel) + note marché (PDF)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
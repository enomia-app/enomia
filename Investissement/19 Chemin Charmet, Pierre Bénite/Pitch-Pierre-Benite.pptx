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414452"/>
          <c:y val="0.04366"/>
          <c:w val="0.953555"/>
          <c:h val="0.8754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flow cumulé (K€)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Fin An 1</c:v>
                </c:pt>
                <c:pt idx="1">
                  <c:v>Fin An 2</c:v>
                </c:pt>
                <c:pt idx="2">
                  <c:v>Fin An 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33.000000</c:v>
                </c:pt>
                <c:pt idx="1">
                  <c:v>129.000000</c:v>
                </c:pt>
                <c:pt idx="2">
                  <c:v>215.000000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55"/>
        <c:minorUnit val="27.5"/>
      </c:valAx>
      <c:spPr>
        <a:noFill/>
        <a:ln w="12700" cap="flat">
          <a:noFill/>
          <a:miter lim="400000"/>
        </a:ln>
        <a:effectLst/>
      </c:spPr>
    </c:plotArea>
    <c:plotVisOnly val="0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1" name="Texte niveau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Texte du titre</a:t>
            </a:r>
          </a:p>
        </p:txBody>
      </p:sp>
      <p:sp>
        <p:nvSpPr>
          <p:cNvPr id="30" name="Texte niveau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9" name="Texte niveau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8" name="Texte niveau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5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e du titre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73" name="Texte niveau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e du titre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 niveau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5486399"/>
            <a:ext cx="12191697" cy="36578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457199" y="2194560"/>
            <a:ext cx="11247122" cy="101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6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PIERRE-BÉNITE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457199" y="3291840"/>
            <a:ext cx="1124712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200">
                <a:solidFill>
                  <a:srgbClr val="C9A961"/>
                </a:solidFill>
              </a:defRPr>
            </a:lvl1pPr>
          </a:lstStyle>
          <a:p>
            <a:pPr/>
            <a:r>
              <a:t>19 Chemin Charmet — limite Saint-Genis-Laval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457199" y="4023359"/>
            <a:ext cx="112471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Projet d'investissement immobilier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457199" y="5852159"/>
            <a:ext cx="11247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C9A961"/>
                </a:solidFill>
              </a:defRPr>
            </a:lvl1pPr>
          </a:lstStyle>
          <a:p>
            <a:pPr/>
            <a:r>
              <a:t>Marc Chenut  &amp;  Antoine Bocquet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457199" y="6309359"/>
            <a:ext cx="112471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Mai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L'opportunité en bref</a:t>
            </a:r>
          </a:p>
        </p:txBody>
      </p:sp>
      <p:sp>
        <p:nvSpPr>
          <p:cNvPr id="105" name="Rectangle 4"/>
          <p:cNvSpPr/>
          <p:nvPr/>
        </p:nvSpPr>
        <p:spPr>
          <a:xfrm>
            <a:off x="640080" y="1737359"/>
            <a:ext cx="5212080" cy="2103122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5"/>
          <p:cNvSpPr txBox="1"/>
          <p:nvPr/>
        </p:nvSpPr>
        <p:spPr>
          <a:xfrm>
            <a:off x="868679" y="1920239"/>
            <a:ext cx="48463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C9A961"/>
                </a:solidFill>
              </a:defRPr>
            </a:lvl1pPr>
          </a:lstStyle>
          <a:p>
            <a:pPr/>
            <a:r>
              <a:t>DÉCOTE À L'ACHAT</a:t>
            </a:r>
          </a:p>
        </p:txBody>
      </p:sp>
      <p:sp>
        <p:nvSpPr>
          <p:cNvPr id="107" name="TextBox 6"/>
          <p:cNvSpPr txBox="1"/>
          <p:nvPr/>
        </p:nvSpPr>
        <p:spPr>
          <a:xfrm>
            <a:off x="868679" y="2468879"/>
            <a:ext cx="4846322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1 167 €/m² acheté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vs 4 752 €/m² médiane maison Saint-Genis-Laval (DVF)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→ -75 % vs marché</a:t>
            </a:r>
          </a:p>
        </p:txBody>
      </p:sp>
      <p:sp>
        <p:nvSpPr>
          <p:cNvPr id="108" name="Rectangle 7"/>
          <p:cNvSpPr/>
          <p:nvPr/>
        </p:nvSpPr>
        <p:spPr>
          <a:xfrm>
            <a:off x="6126479" y="1737359"/>
            <a:ext cx="5212081" cy="2103122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8"/>
          <p:cNvSpPr txBox="1"/>
          <p:nvPr/>
        </p:nvSpPr>
        <p:spPr>
          <a:xfrm>
            <a:off x="6355079" y="1920239"/>
            <a:ext cx="4846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12A33"/>
                </a:solidFill>
              </a:defRPr>
            </a:lvl1pPr>
          </a:lstStyle>
          <a:p>
            <a:pPr/>
            <a:r>
              <a:t>PLUS-VALUE LATENTE</a:t>
            </a:r>
          </a:p>
        </p:txBody>
      </p:sp>
      <p:sp>
        <p:nvSpPr>
          <p:cNvPr id="110" name="TextBox 9"/>
          <p:cNvSpPr txBox="1"/>
          <p:nvPr/>
        </p:nvSpPr>
        <p:spPr>
          <a:xfrm>
            <a:off x="6355079" y="2468879"/>
            <a:ext cx="4846321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12A33"/>
                </a:solidFill>
              </a:defRPr>
            </a:pPr>
            <a:r>
              <a:t>Prêt sollicité :    588 K€</a:t>
            </a:r>
          </a:p>
          <a:p>
            <a:pPr>
              <a:defRPr sz="1300">
                <a:solidFill>
                  <a:srgbClr val="212A33"/>
                </a:solidFill>
              </a:defRPr>
            </a:pPr>
            <a:r>
              <a:t>Valeur revente :   1 260 K€</a:t>
            </a:r>
          </a:p>
          <a:p>
            <a:pPr>
              <a:defRPr sz="1300">
                <a:solidFill>
                  <a:srgbClr val="212A33"/>
                </a:solidFill>
              </a:defRPr>
            </a:pPr>
            <a:r>
              <a:t>→ Marge : +672 K€</a:t>
            </a:r>
          </a:p>
        </p:txBody>
      </p:sp>
      <p:sp>
        <p:nvSpPr>
          <p:cNvPr id="111" name="Rectangle 10"/>
          <p:cNvSpPr/>
          <p:nvPr/>
        </p:nvSpPr>
        <p:spPr>
          <a:xfrm>
            <a:off x="640080" y="4114799"/>
            <a:ext cx="5212080" cy="2103122"/>
          </a:xfrm>
          <a:prstGeom prst="rect">
            <a:avLst/>
          </a:prstGeom>
          <a:solidFill>
            <a:srgbClr val="0070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11"/>
          <p:cNvSpPr txBox="1"/>
          <p:nvPr/>
        </p:nvSpPr>
        <p:spPr>
          <a:xfrm>
            <a:off x="868679" y="4297679"/>
            <a:ext cx="48463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C9A961"/>
                </a:solidFill>
              </a:defRPr>
            </a:lvl1pPr>
          </a:lstStyle>
          <a:p>
            <a:pPr/>
            <a:r>
              <a:t>CASH FLOW LCD</a:t>
            </a:r>
          </a:p>
        </p:txBody>
      </p:sp>
      <p:sp>
        <p:nvSpPr>
          <p:cNvPr id="113" name="TextBox 12"/>
          <p:cNvSpPr txBox="1"/>
          <p:nvPr/>
        </p:nvSpPr>
        <p:spPr>
          <a:xfrm>
            <a:off x="868679" y="4846320"/>
            <a:ext cx="4846322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Revenus net charges :   +10 712 €/mois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Mensualité prêt :              -3 502 €/mois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→ Cash flow : +7 210 €/mois</a:t>
            </a:r>
          </a:p>
        </p:txBody>
      </p:sp>
      <p:sp>
        <p:nvSpPr>
          <p:cNvPr id="114" name="Rectangle 13"/>
          <p:cNvSpPr/>
          <p:nvPr/>
        </p:nvSpPr>
        <p:spPr>
          <a:xfrm>
            <a:off x="6126479" y="4114799"/>
            <a:ext cx="5212081" cy="2103122"/>
          </a:xfrm>
          <a:prstGeom prst="rect">
            <a:avLst/>
          </a:prstGeom>
          <a:solidFill>
            <a:srgbClr val="212A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4"/>
          <p:cNvSpPr txBox="1"/>
          <p:nvPr/>
        </p:nvSpPr>
        <p:spPr>
          <a:xfrm>
            <a:off x="6355079" y="4297679"/>
            <a:ext cx="4846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C9A961"/>
                </a:solidFill>
              </a:defRPr>
            </a:lvl1pPr>
          </a:lstStyle>
          <a:p>
            <a:pPr/>
            <a:r>
              <a:t>CASH FLOW LONGUE DURÉE</a:t>
            </a:r>
          </a:p>
        </p:txBody>
      </p:sp>
      <p:sp>
        <p:nvSpPr>
          <p:cNvPr id="116" name="TextBox 15"/>
          <p:cNvSpPr txBox="1"/>
          <p:nvPr/>
        </p:nvSpPr>
        <p:spPr>
          <a:xfrm>
            <a:off x="6355079" y="4846320"/>
            <a:ext cx="4846321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Loyers (T2 + T3) :          +5 450 €/mois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Charges + Prêt :              -4 081 €/mois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→ Cash flow : +1 369 €/mois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L'équipe</a:t>
            </a:r>
          </a:p>
        </p:txBody>
      </p:sp>
      <p:sp>
        <p:nvSpPr>
          <p:cNvPr id="121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Profils complémentaires — opérateur LCD + expert travaux</a:t>
            </a:r>
          </a:p>
        </p:txBody>
      </p:sp>
      <p:sp>
        <p:nvSpPr>
          <p:cNvPr id="122" name="TextBox 5"/>
          <p:cNvSpPr txBox="1"/>
          <p:nvPr/>
        </p:nvSpPr>
        <p:spPr>
          <a:xfrm>
            <a:off x="640080" y="1783079"/>
            <a:ext cx="521208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Marc Chenut</a:t>
            </a:r>
          </a:p>
        </p:txBody>
      </p:sp>
      <p:sp>
        <p:nvSpPr>
          <p:cNvPr id="123" name="TextBox 6"/>
          <p:cNvSpPr txBox="1"/>
          <p:nvPr/>
        </p:nvSpPr>
        <p:spPr>
          <a:xfrm>
            <a:off x="640080" y="2331720"/>
            <a:ext cx="52120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C9A961"/>
                </a:solidFill>
              </a:defRPr>
            </a:lvl1pPr>
          </a:lstStyle>
          <a:p>
            <a:pPr/>
            <a:r>
              <a:t>Opérateur LCD — 6 ans d'expérience</a:t>
            </a:r>
          </a:p>
        </p:txBody>
      </p:sp>
      <p:sp>
        <p:nvSpPr>
          <p:cNvPr id="124" name="TextBox 7"/>
          <p:cNvSpPr txBox="1"/>
          <p:nvPr/>
        </p:nvSpPr>
        <p:spPr>
          <a:xfrm>
            <a:off x="685800" y="2880360"/>
            <a:ext cx="5120640" cy="157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97 % d'occupation prouvée sur 4 opérations actives à Lyon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Auteur du livre « La Méthode 97 % »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Salarié Neocamino (3 000 € /mois net)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Société M&amp;Ms : bénéfice ~30 K€/an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Trésorerie disponible : 100 K€</a:t>
            </a:r>
          </a:p>
        </p:txBody>
      </p:sp>
      <p:sp>
        <p:nvSpPr>
          <p:cNvPr id="125" name="TextBox 8"/>
          <p:cNvSpPr txBox="1"/>
          <p:nvPr/>
        </p:nvSpPr>
        <p:spPr>
          <a:xfrm>
            <a:off x="6400800" y="1783079"/>
            <a:ext cx="521208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Antoine Bocquet</a:t>
            </a:r>
          </a:p>
        </p:txBody>
      </p:sp>
      <p:sp>
        <p:nvSpPr>
          <p:cNvPr id="126" name="TextBox 9"/>
          <p:cNvSpPr txBox="1"/>
          <p:nvPr/>
        </p:nvSpPr>
        <p:spPr>
          <a:xfrm>
            <a:off x="6400800" y="2331720"/>
            <a:ext cx="52120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C9A961"/>
                </a:solidFill>
              </a:defRPr>
            </a:lvl1pPr>
          </a:lstStyle>
          <a:p>
            <a:pPr/>
            <a:r>
              <a:t>Directeur Rhône-Alpes — RenovationMan</a:t>
            </a:r>
          </a:p>
        </p:txBody>
      </p:sp>
      <p:sp>
        <p:nvSpPr>
          <p:cNvPr id="127" name="TextBox 10"/>
          <p:cNvSpPr txBox="1"/>
          <p:nvPr/>
        </p:nvSpPr>
        <p:spPr>
          <a:xfrm>
            <a:off x="6446520" y="2880360"/>
            <a:ext cx="5120640" cy="157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Réseau d'artisans → travaux -50 % vs particulier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Maîtrise délais et qualité de rénovation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EURL personnelle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Compagne actuaire : 7 000 €/mois net</a:t>
            </a:r>
          </a:p>
          <a:p>
            <a:pPr>
              <a:spcBef>
                <a:spcPts val="1000"/>
              </a:spcBef>
              <a:defRPr sz="1300">
                <a:solidFill>
                  <a:srgbClr val="333333"/>
                </a:solidFill>
              </a:defRPr>
            </a:pPr>
            <a:r>
              <a:t>•  Trésorerie disponible : 100 K€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 bien</a:t>
            </a:r>
          </a:p>
        </p:txBody>
      </p:sp>
      <p:sp>
        <p:nvSpPr>
          <p:cNvPr id="132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Maison ~300 m² — limite Saint-Genis-Laval — 10 min métro Lyon</a:t>
            </a:r>
          </a:p>
        </p:txBody>
      </p:sp>
      <p:sp>
        <p:nvSpPr>
          <p:cNvPr id="133" name="Rectangle 5"/>
          <p:cNvSpPr/>
          <p:nvPr/>
        </p:nvSpPr>
        <p:spPr>
          <a:xfrm>
            <a:off x="640080" y="1828799"/>
            <a:ext cx="5212080" cy="1234442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6"/>
          <p:cNvSpPr txBox="1"/>
          <p:nvPr/>
        </p:nvSpPr>
        <p:spPr>
          <a:xfrm>
            <a:off x="868679" y="2011679"/>
            <a:ext cx="48463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36454F"/>
                </a:solidFill>
              </a:defRPr>
            </a:lvl1pPr>
          </a:lstStyle>
          <a:p>
            <a:pPr/>
            <a:r>
              <a:t>ADRESSE</a:t>
            </a:r>
          </a:p>
        </p:txBody>
      </p:sp>
      <p:sp>
        <p:nvSpPr>
          <p:cNvPr id="135" name="TextBox 7"/>
          <p:cNvSpPr txBox="1"/>
          <p:nvPr/>
        </p:nvSpPr>
        <p:spPr>
          <a:xfrm>
            <a:off x="868679" y="2377439"/>
            <a:ext cx="484632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333333"/>
                </a:solidFill>
              </a:defRPr>
            </a:lvl1pPr>
          </a:lstStyle>
          <a:p>
            <a:pPr/>
            <a:r>
              <a:t>19 Chemin Charmet, 69310 Pierre-Bénite</a:t>
            </a:r>
          </a:p>
        </p:txBody>
      </p:sp>
      <p:sp>
        <p:nvSpPr>
          <p:cNvPr id="136" name="Rectangle 8"/>
          <p:cNvSpPr/>
          <p:nvPr/>
        </p:nvSpPr>
        <p:spPr>
          <a:xfrm>
            <a:off x="6400800" y="1828799"/>
            <a:ext cx="5212080" cy="1234442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9"/>
          <p:cNvSpPr txBox="1"/>
          <p:nvPr/>
        </p:nvSpPr>
        <p:spPr>
          <a:xfrm>
            <a:off x="6629399" y="2011679"/>
            <a:ext cx="48463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36454F"/>
                </a:solidFill>
              </a:defRPr>
            </a:lvl1pPr>
          </a:lstStyle>
          <a:p>
            <a:pPr/>
            <a:r>
              <a:t>SURFACE</a:t>
            </a:r>
          </a:p>
        </p:txBody>
      </p:sp>
      <p:sp>
        <p:nvSpPr>
          <p:cNvPr id="138" name="TextBox 10"/>
          <p:cNvSpPr txBox="1"/>
          <p:nvPr/>
        </p:nvSpPr>
        <p:spPr>
          <a:xfrm>
            <a:off x="6629399" y="2377439"/>
            <a:ext cx="484632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333333"/>
                </a:solidFill>
              </a:defRPr>
            </a:lvl1pPr>
          </a:lstStyle>
          <a:p>
            <a:pPr/>
            <a:r>
              <a:t>~300 m²</a:t>
            </a:r>
          </a:p>
        </p:txBody>
      </p:sp>
      <p:sp>
        <p:nvSpPr>
          <p:cNvPr id="139" name="Rectangle 11"/>
          <p:cNvSpPr/>
          <p:nvPr/>
        </p:nvSpPr>
        <p:spPr>
          <a:xfrm>
            <a:off x="640080" y="3246120"/>
            <a:ext cx="5212080" cy="12344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12"/>
          <p:cNvSpPr txBox="1"/>
          <p:nvPr/>
        </p:nvSpPr>
        <p:spPr>
          <a:xfrm>
            <a:off x="868679" y="3428999"/>
            <a:ext cx="48463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36454F"/>
                </a:solidFill>
              </a:defRPr>
            </a:lvl1pPr>
          </a:lstStyle>
          <a:p>
            <a:pPr/>
            <a:r>
              <a:t>MARCHÉ DE RÉFÉRENCE</a:t>
            </a:r>
          </a:p>
        </p:txBody>
      </p:sp>
      <p:sp>
        <p:nvSpPr>
          <p:cNvPr id="141" name="TextBox 13"/>
          <p:cNvSpPr txBox="1"/>
          <p:nvPr/>
        </p:nvSpPr>
        <p:spPr>
          <a:xfrm>
            <a:off x="868679" y="3794759"/>
            <a:ext cx="484632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333333"/>
                </a:solidFill>
              </a:defRPr>
            </a:lvl1pPr>
          </a:lstStyle>
          <a:p>
            <a:pPr/>
            <a:r>
              <a:t>Saint-Genis-Laval</a:t>
            </a:r>
          </a:p>
        </p:txBody>
      </p:sp>
      <p:sp>
        <p:nvSpPr>
          <p:cNvPr id="142" name="Rectangle 14"/>
          <p:cNvSpPr/>
          <p:nvPr/>
        </p:nvSpPr>
        <p:spPr>
          <a:xfrm>
            <a:off x="6400800" y="3246120"/>
            <a:ext cx="5212080" cy="12344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15"/>
          <p:cNvSpPr txBox="1"/>
          <p:nvPr/>
        </p:nvSpPr>
        <p:spPr>
          <a:xfrm>
            <a:off x="6629399" y="3428999"/>
            <a:ext cx="48463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36454F"/>
                </a:solidFill>
              </a:defRPr>
            </a:lvl1pPr>
          </a:lstStyle>
          <a:p>
            <a:pPr/>
            <a:r>
              <a:t>ACCÈS</a:t>
            </a:r>
          </a:p>
        </p:txBody>
      </p:sp>
      <p:sp>
        <p:nvSpPr>
          <p:cNvPr id="144" name="TextBox 16"/>
          <p:cNvSpPr txBox="1"/>
          <p:nvPr/>
        </p:nvSpPr>
        <p:spPr>
          <a:xfrm>
            <a:off x="6629399" y="3794759"/>
            <a:ext cx="484632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333333"/>
                </a:solidFill>
              </a:defRPr>
            </a:lvl1pPr>
          </a:lstStyle>
          <a:p>
            <a:pPr/>
            <a:r>
              <a:t>10 min à pied du métro Lyon</a:t>
            </a:r>
          </a:p>
        </p:txBody>
      </p:sp>
      <p:sp>
        <p:nvSpPr>
          <p:cNvPr id="145" name="Rectangle 17"/>
          <p:cNvSpPr/>
          <p:nvPr/>
        </p:nvSpPr>
        <p:spPr>
          <a:xfrm>
            <a:off x="640080" y="4663440"/>
            <a:ext cx="5212080" cy="12344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18"/>
          <p:cNvSpPr txBox="1"/>
          <p:nvPr/>
        </p:nvSpPr>
        <p:spPr>
          <a:xfrm>
            <a:off x="868679" y="4846320"/>
            <a:ext cx="484632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36454F"/>
                </a:solidFill>
              </a:defRPr>
            </a:lvl1pPr>
          </a:lstStyle>
          <a:p>
            <a:pPr/>
            <a:r>
              <a:t>DIVISION</a:t>
            </a:r>
          </a:p>
        </p:txBody>
      </p:sp>
      <p:sp>
        <p:nvSpPr>
          <p:cNvPr id="147" name="TextBox 19"/>
          <p:cNvSpPr txBox="1"/>
          <p:nvPr/>
        </p:nvSpPr>
        <p:spPr>
          <a:xfrm>
            <a:off x="868679" y="5212079"/>
            <a:ext cx="484632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333333"/>
                </a:solidFill>
              </a:defRPr>
            </a:lvl1pPr>
          </a:lstStyle>
          <a:p>
            <a:pPr/>
            <a:r>
              <a:t>5 lots — 3 T3 (dont 2 avec jardin) + 2 T2</a:t>
            </a:r>
          </a:p>
        </p:txBody>
      </p:sp>
      <p:sp>
        <p:nvSpPr>
          <p:cNvPr id="148" name="Rectangle 20"/>
          <p:cNvSpPr/>
          <p:nvPr/>
        </p:nvSpPr>
        <p:spPr>
          <a:xfrm>
            <a:off x="6400800" y="4663440"/>
            <a:ext cx="5212080" cy="12344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21"/>
          <p:cNvSpPr txBox="1"/>
          <p:nvPr/>
        </p:nvSpPr>
        <p:spPr>
          <a:xfrm>
            <a:off x="6629399" y="4846320"/>
            <a:ext cx="484632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36454F"/>
                </a:solidFill>
              </a:defRPr>
            </a:lvl1pPr>
          </a:lstStyle>
          <a:p>
            <a:pPr/>
            <a:r>
              <a:t>STANDING</a:t>
            </a:r>
          </a:p>
        </p:txBody>
      </p:sp>
      <p:sp>
        <p:nvSpPr>
          <p:cNvPr id="150" name="TextBox 22"/>
          <p:cNvSpPr txBox="1"/>
          <p:nvPr/>
        </p:nvSpPr>
        <p:spPr>
          <a:xfrm>
            <a:off x="6629399" y="5212079"/>
            <a:ext cx="484632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333333"/>
                </a:solidFill>
              </a:defRPr>
            </a:lvl1pPr>
          </a:lstStyle>
          <a:p>
            <a:pPr/>
            <a:r>
              <a:t>Rénovation haut de gamme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 marché — Saint-Genis-Laval</a:t>
            </a:r>
          </a:p>
        </p:txBody>
      </p:sp>
      <p:sp>
        <p:nvSpPr>
          <p:cNvPr id="155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DVF / MeilleursAgents / efficity — mai 2026</a:t>
            </a:r>
          </a:p>
        </p:txBody>
      </p:sp>
      <p:sp>
        <p:nvSpPr>
          <p:cNvPr id="156" name="Rectangle 5"/>
          <p:cNvSpPr/>
          <p:nvPr/>
        </p:nvSpPr>
        <p:spPr>
          <a:xfrm>
            <a:off x="640080" y="1737360"/>
            <a:ext cx="10972801" cy="137160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6"/>
          <p:cNvSpPr txBox="1"/>
          <p:nvPr/>
        </p:nvSpPr>
        <p:spPr>
          <a:xfrm>
            <a:off x="640080" y="1828799"/>
            <a:ext cx="109728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C9A961"/>
                </a:solidFill>
              </a:defRPr>
            </a:lvl1pPr>
          </a:lstStyle>
          <a:p>
            <a:pPr/>
            <a:r>
              <a:t>Prix m² appartements Saint-Genis-Laval</a:t>
            </a:r>
          </a:p>
        </p:txBody>
      </p:sp>
      <p:sp>
        <p:nvSpPr>
          <p:cNvPr id="158" name="TextBox 7"/>
          <p:cNvSpPr txBox="1"/>
          <p:nvPr/>
        </p:nvSpPr>
        <p:spPr>
          <a:xfrm>
            <a:off x="640080" y="2285999"/>
            <a:ext cx="109728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Médiane 3 480 €/m²  —  Moyenne 3 950 €/m²  —  Top quartiers jusqu'à 4 991 €/m²</a:t>
            </a:r>
          </a:p>
        </p:txBody>
      </p:sp>
      <p:sp>
        <p:nvSpPr>
          <p:cNvPr id="159" name="Rectangle 8"/>
          <p:cNvSpPr/>
          <p:nvPr/>
        </p:nvSpPr>
        <p:spPr>
          <a:xfrm>
            <a:off x="640080" y="3383279"/>
            <a:ext cx="5212080" cy="128016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9"/>
          <p:cNvSpPr txBox="1"/>
          <p:nvPr/>
        </p:nvSpPr>
        <p:spPr>
          <a:xfrm>
            <a:off x="640080" y="3474720"/>
            <a:ext cx="52120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212A33"/>
                </a:solidFill>
              </a:defRPr>
            </a:lvl1pPr>
          </a:lstStyle>
          <a:p>
            <a:pPr/>
            <a:r>
              <a:t>NOTRE ACHAT</a:t>
            </a:r>
          </a:p>
        </p:txBody>
      </p:sp>
      <p:sp>
        <p:nvSpPr>
          <p:cNvPr id="161" name="TextBox 10"/>
          <p:cNvSpPr txBox="1"/>
          <p:nvPr/>
        </p:nvSpPr>
        <p:spPr>
          <a:xfrm>
            <a:off x="640080" y="3840479"/>
            <a:ext cx="52120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1 167 €/m²</a:t>
            </a:r>
          </a:p>
        </p:txBody>
      </p:sp>
      <p:sp>
        <p:nvSpPr>
          <p:cNvPr id="162" name="TextBox 11"/>
          <p:cNvSpPr txBox="1"/>
          <p:nvPr/>
        </p:nvSpPr>
        <p:spPr>
          <a:xfrm>
            <a:off x="640080" y="4343399"/>
            <a:ext cx="52120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212A33"/>
                </a:solidFill>
              </a:defRPr>
            </a:lvl1pPr>
          </a:lstStyle>
          <a:p>
            <a:pPr/>
            <a:r>
              <a:t>soit -75 % vs médiane maison Saint-Genis</a:t>
            </a:r>
          </a:p>
        </p:txBody>
      </p:sp>
      <p:sp>
        <p:nvSpPr>
          <p:cNvPr id="163" name="Rectangle 12"/>
          <p:cNvSpPr/>
          <p:nvPr/>
        </p:nvSpPr>
        <p:spPr>
          <a:xfrm>
            <a:off x="6400800" y="3383279"/>
            <a:ext cx="5212080" cy="1280161"/>
          </a:xfrm>
          <a:prstGeom prst="rect">
            <a:avLst/>
          </a:prstGeom>
          <a:solidFill>
            <a:srgbClr val="0070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3"/>
          <p:cNvSpPr txBox="1"/>
          <p:nvPr/>
        </p:nvSpPr>
        <p:spPr>
          <a:xfrm>
            <a:off x="6400800" y="3474720"/>
            <a:ext cx="52120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NOTRE REVENTE CIBLE</a:t>
            </a:r>
          </a:p>
        </p:txBody>
      </p:sp>
      <p:sp>
        <p:nvSpPr>
          <p:cNvPr id="165" name="TextBox 14"/>
          <p:cNvSpPr txBox="1"/>
          <p:nvPr/>
        </p:nvSpPr>
        <p:spPr>
          <a:xfrm>
            <a:off x="6400800" y="3840479"/>
            <a:ext cx="521208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4 200 €/m²</a:t>
            </a:r>
          </a:p>
        </p:txBody>
      </p:sp>
      <p:sp>
        <p:nvSpPr>
          <p:cNvPr id="166" name="TextBox 15"/>
          <p:cNvSpPr txBox="1"/>
          <p:nvPr/>
        </p:nvSpPr>
        <p:spPr>
          <a:xfrm>
            <a:off x="6400800" y="4343399"/>
            <a:ext cx="52120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300 m² × 4 200 = 1 260 K€</a:t>
            </a:r>
          </a:p>
        </p:txBody>
      </p:sp>
      <p:sp>
        <p:nvSpPr>
          <p:cNvPr id="167" name="Rectangle 16"/>
          <p:cNvSpPr/>
          <p:nvPr/>
        </p:nvSpPr>
        <p:spPr>
          <a:xfrm>
            <a:off x="2286000" y="5029200"/>
            <a:ext cx="7589519" cy="1371600"/>
          </a:xfrm>
          <a:prstGeom prst="rect">
            <a:avLst/>
          </a:prstGeom>
          <a:solidFill>
            <a:srgbClr val="212A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7"/>
          <p:cNvSpPr txBox="1"/>
          <p:nvPr/>
        </p:nvSpPr>
        <p:spPr>
          <a:xfrm>
            <a:off x="2286000" y="5120640"/>
            <a:ext cx="758951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C9A961"/>
                </a:solidFill>
              </a:defRPr>
            </a:lvl1pPr>
          </a:lstStyle>
          <a:p>
            <a:pPr/>
            <a:r>
              <a:t>PLUS-VALUE LATENTE</a:t>
            </a:r>
          </a:p>
        </p:txBody>
      </p:sp>
      <p:sp>
        <p:nvSpPr>
          <p:cNvPr id="169" name="TextBox 18"/>
          <p:cNvSpPr txBox="1"/>
          <p:nvPr/>
        </p:nvSpPr>
        <p:spPr>
          <a:xfrm>
            <a:off x="2286000" y="5486399"/>
            <a:ext cx="758951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+ 522 K€</a:t>
            </a:r>
          </a:p>
        </p:txBody>
      </p:sp>
      <p:sp>
        <p:nvSpPr>
          <p:cNvPr id="170" name="TextBox 19"/>
          <p:cNvSpPr txBox="1"/>
          <p:nvPr/>
        </p:nvSpPr>
        <p:spPr>
          <a:xfrm>
            <a:off x="2286000" y="6126479"/>
            <a:ext cx="75895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C9A961"/>
                </a:solidFill>
              </a:defRPr>
            </a:lvl1pPr>
          </a:lstStyle>
          <a:p>
            <a:pPr/>
            <a:r>
              <a:t>soit +71 % de marge sur le coût total opération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Marché hôtelier — Zone de chalandise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Marché 2-3 étoiles : dormir 1-2 nuits, propre, calme, prix correct</a:t>
            </a:r>
          </a:p>
        </p:txBody>
      </p:sp>
      <p:sp>
        <p:nvSpPr>
          <p:cNvPr id="176" name="Rectangle 5"/>
          <p:cNvSpPr/>
          <p:nvPr/>
        </p:nvSpPr>
        <p:spPr>
          <a:xfrm>
            <a:off x="640080" y="1737360"/>
            <a:ext cx="10881360" cy="45720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6"/>
          <p:cNvSpPr txBox="1"/>
          <p:nvPr/>
        </p:nvSpPr>
        <p:spPr>
          <a:xfrm>
            <a:off x="822959" y="1828799"/>
            <a:ext cx="713231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Hôtel</a:t>
            </a:r>
          </a:p>
        </p:txBody>
      </p:sp>
      <p:sp>
        <p:nvSpPr>
          <p:cNvPr id="178" name="TextBox 7"/>
          <p:cNvSpPr txBox="1"/>
          <p:nvPr/>
        </p:nvSpPr>
        <p:spPr>
          <a:xfrm>
            <a:off x="8138159" y="1828799"/>
            <a:ext cx="1554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Catégorie</a:t>
            </a:r>
          </a:p>
        </p:txBody>
      </p:sp>
      <p:sp>
        <p:nvSpPr>
          <p:cNvPr id="179" name="TextBox 8"/>
          <p:cNvSpPr txBox="1"/>
          <p:nvPr/>
        </p:nvSpPr>
        <p:spPr>
          <a:xfrm>
            <a:off x="9875518" y="1828799"/>
            <a:ext cx="1645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Chambres</a:t>
            </a:r>
          </a:p>
        </p:txBody>
      </p:sp>
      <p:sp>
        <p:nvSpPr>
          <p:cNvPr id="180" name="Rectangle 9"/>
          <p:cNvSpPr/>
          <p:nvPr/>
        </p:nvSpPr>
        <p:spPr>
          <a:xfrm>
            <a:off x="640080" y="2194560"/>
            <a:ext cx="10881360" cy="365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0"/>
          <p:cNvSpPr txBox="1"/>
          <p:nvPr/>
        </p:nvSpPr>
        <p:spPr>
          <a:xfrm>
            <a:off x="822959" y="226771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Ibis Styles Lyon Sud</a:t>
            </a:r>
          </a:p>
        </p:txBody>
      </p:sp>
      <p:sp>
        <p:nvSpPr>
          <p:cNvPr id="182" name="TextBox 11"/>
          <p:cNvSpPr txBox="1"/>
          <p:nvPr/>
        </p:nvSpPr>
        <p:spPr>
          <a:xfrm>
            <a:off x="8138159" y="2267711"/>
            <a:ext cx="155448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3 ★</a:t>
            </a:r>
          </a:p>
        </p:txBody>
      </p:sp>
      <p:sp>
        <p:nvSpPr>
          <p:cNvPr id="183" name="TextBox 12"/>
          <p:cNvSpPr txBox="1"/>
          <p:nvPr/>
        </p:nvSpPr>
        <p:spPr>
          <a:xfrm>
            <a:off x="9875518" y="2267711"/>
            <a:ext cx="16459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115</a:t>
            </a:r>
          </a:p>
        </p:txBody>
      </p:sp>
      <p:sp>
        <p:nvSpPr>
          <p:cNvPr id="184" name="Rectangle 13"/>
          <p:cNvSpPr/>
          <p:nvPr/>
        </p:nvSpPr>
        <p:spPr>
          <a:xfrm>
            <a:off x="640080" y="2560320"/>
            <a:ext cx="10881360" cy="36576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4"/>
          <p:cNvSpPr txBox="1"/>
          <p:nvPr/>
        </p:nvSpPr>
        <p:spPr>
          <a:xfrm>
            <a:off x="822959" y="2633472"/>
            <a:ext cx="713231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Première Classe Irigny</a:t>
            </a:r>
          </a:p>
        </p:txBody>
      </p:sp>
      <p:sp>
        <p:nvSpPr>
          <p:cNvPr id="186" name="TextBox 15"/>
          <p:cNvSpPr txBox="1"/>
          <p:nvPr/>
        </p:nvSpPr>
        <p:spPr>
          <a:xfrm>
            <a:off x="8138159" y="2633472"/>
            <a:ext cx="1554481" cy="25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2 ★</a:t>
            </a:r>
          </a:p>
        </p:txBody>
      </p:sp>
      <p:sp>
        <p:nvSpPr>
          <p:cNvPr id="187" name="TextBox 16"/>
          <p:cNvSpPr txBox="1"/>
          <p:nvPr/>
        </p:nvSpPr>
        <p:spPr>
          <a:xfrm>
            <a:off x="9875518" y="2633472"/>
            <a:ext cx="16459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106</a:t>
            </a:r>
          </a:p>
        </p:txBody>
      </p:sp>
      <p:sp>
        <p:nvSpPr>
          <p:cNvPr id="188" name="Rectangle 17"/>
          <p:cNvSpPr/>
          <p:nvPr/>
        </p:nvSpPr>
        <p:spPr>
          <a:xfrm>
            <a:off x="640080" y="2926079"/>
            <a:ext cx="10881360" cy="365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8"/>
          <p:cNvSpPr txBox="1"/>
          <p:nvPr/>
        </p:nvSpPr>
        <p:spPr>
          <a:xfrm>
            <a:off x="822959" y="2999232"/>
            <a:ext cx="713231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Kyriad Lyon Sud</a:t>
            </a:r>
          </a:p>
        </p:txBody>
      </p:sp>
      <p:sp>
        <p:nvSpPr>
          <p:cNvPr id="190" name="TextBox 19"/>
          <p:cNvSpPr txBox="1"/>
          <p:nvPr/>
        </p:nvSpPr>
        <p:spPr>
          <a:xfrm>
            <a:off x="8138159" y="2999232"/>
            <a:ext cx="1554481" cy="25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3 ★</a:t>
            </a:r>
          </a:p>
        </p:txBody>
      </p:sp>
      <p:sp>
        <p:nvSpPr>
          <p:cNvPr id="191" name="TextBox 20"/>
          <p:cNvSpPr txBox="1"/>
          <p:nvPr/>
        </p:nvSpPr>
        <p:spPr>
          <a:xfrm>
            <a:off x="9875518" y="2999232"/>
            <a:ext cx="16459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192" name="Rectangle 21"/>
          <p:cNvSpPr/>
          <p:nvPr/>
        </p:nvSpPr>
        <p:spPr>
          <a:xfrm>
            <a:off x="640080" y="3291840"/>
            <a:ext cx="10881360" cy="36576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22"/>
          <p:cNvSpPr txBox="1"/>
          <p:nvPr/>
        </p:nvSpPr>
        <p:spPr>
          <a:xfrm>
            <a:off x="822959" y="336499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Ibis Budget Saint-Genis-Laval</a:t>
            </a:r>
          </a:p>
        </p:txBody>
      </p:sp>
      <p:sp>
        <p:nvSpPr>
          <p:cNvPr id="194" name="TextBox 23"/>
          <p:cNvSpPr txBox="1"/>
          <p:nvPr/>
        </p:nvSpPr>
        <p:spPr>
          <a:xfrm>
            <a:off x="8138159" y="3364991"/>
            <a:ext cx="155448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2 ★</a:t>
            </a:r>
          </a:p>
        </p:txBody>
      </p:sp>
      <p:sp>
        <p:nvSpPr>
          <p:cNvPr id="195" name="TextBox 24"/>
          <p:cNvSpPr txBox="1"/>
          <p:nvPr/>
        </p:nvSpPr>
        <p:spPr>
          <a:xfrm>
            <a:off x="9875518" y="3364991"/>
            <a:ext cx="16459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57</a:t>
            </a:r>
          </a:p>
        </p:txBody>
      </p:sp>
      <p:sp>
        <p:nvSpPr>
          <p:cNvPr id="196" name="Rectangle 25"/>
          <p:cNvSpPr/>
          <p:nvPr/>
        </p:nvSpPr>
        <p:spPr>
          <a:xfrm>
            <a:off x="640080" y="3657599"/>
            <a:ext cx="10881360" cy="3657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26"/>
          <p:cNvSpPr txBox="1"/>
          <p:nvPr/>
        </p:nvSpPr>
        <p:spPr>
          <a:xfrm>
            <a:off x="822959" y="3730752"/>
            <a:ext cx="713231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Ibis Budget Lyon Sud — Saint-Fons A7</a:t>
            </a:r>
          </a:p>
        </p:txBody>
      </p:sp>
      <p:sp>
        <p:nvSpPr>
          <p:cNvPr id="198" name="TextBox 27"/>
          <p:cNvSpPr txBox="1"/>
          <p:nvPr/>
        </p:nvSpPr>
        <p:spPr>
          <a:xfrm>
            <a:off x="8138159" y="3730752"/>
            <a:ext cx="1554481" cy="25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2 ★</a:t>
            </a:r>
          </a:p>
        </p:txBody>
      </p:sp>
      <p:sp>
        <p:nvSpPr>
          <p:cNvPr id="199" name="TextBox 28"/>
          <p:cNvSpPr txBox="1"/>
          <p:nvPr/>
        </p:nvSpPr>
        <p:spPr>
          <a:xfrm>
            <a:off x="9875518" y="3730752"/>
            <a:ext cx="16459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200" name="Rectangle 29"/>
          <p:cNvSpPr/>
          <p:nvPr/>
        </p:nvSpPr>
        <p:spPr>
          <a:xfrm>
            <a:off x="640080" y="4023359"/>
            <a:ext cx="10881360" cy="36576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30"/>
          <p:cNvSpPr txBox="1"/>
          <p:nvPr/>
        </p:nvSpPr>
        <p:spPr>
          <a:xfrm>
            <a:off x="822959" y="409651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Hotel Lyon Sud</a:t>
            </a:r>
          </a:p>
        </p:txBody>
      </p:sp>
      <p:sp>
        <p:nvSpPr>
          <p:cNvPr id="202" name="TextBox 31"/>
          <p:cNvSpPr txBox="1"/>
          <p:nvPr/>
        </p:nvSpPr>
        <p:spPr>
          <a:xfrm>
            <a:off x="8138159" y="4096511"/>
            <a:ext cx="155448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3 ★</a:t>
            </a:r>
          </a:p>
        </p:txBody>
      </p:sp>
      <p:sp>
        <p:nvSpPr>
          <p:cNvPr id="203" name="TextBox 32"/>
          <p:cNvSpPr txBox="1"/>
          <p:nvPr/>
        </p:nvSpPr>
        <p:spPr>
          <a:xfrm>
            <a:off x="9875518" y="4096511"/>
            <a:ext cx="16459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204" name="Rectangle 33"/>
          <p:cNvSpPr/>
          <p:nvPr/>
        </p:nvSpPr>
        <p:spPr>
          <a:xfrm>
            <a:off x="640080" y="4389120"/>
            <a:ext cx="10881360" cy="365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34"/>
          <p:cNvSpPr txBox="1"/>
          <p:nvPr/>
        </p:nvSpPr>
        <p:spPr>
          <a:xfrm>
            <a:off x="822959" y="446227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Le Saint Vincent</a:t>
            </a:r>
          </a:p>
        </p:txBody>
      </p:sp>
      <p:sp>
        <p:nvSpPr>
          <p:cNvPr id="206" name="TextBox 35"/>
          <p:cNvSpPr txBox="1"/>
          <p:nvPr/>
        </p:nvSpPr>
        <p:spPr>
          <a:xfrm>
            <a:off x="8138159" y="4462271"/>
            <a:ext cx="155448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2 ★</a:t>
            </a:r>
          </a:p>
        </p:txBody>
      </p:sp>
      <p:sp>
        <p:nvSpPr>
          <p:cNvPr id="207" name="TextBox 36"/>
          <p:cNvSpPr txBox="1"/>
          <p:nvPr/>
        </p:nvSpPr>
        <p:spPr>
          <a:xfrm>
            <a:off x="9875518" y="4462271"/>
            <a:ext cx="16459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208" name="Rectangle 37"/>
          <p:cNvSpPr/>
          <p:nvPr/>
        </p:nvSpPr>
        <p:spPr>
          <a:xfrm>
            <a:off x="640080" y="4754879"/>
            <a:ext cx="10881360" cy="36576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38"/>
          <p:cNvSpPr txBox="1"/>
          <p:nvPr/>
        </p:nvSpPr>
        <p:spPr>
          <a:xfrm>
            <a:off x="822959" y="4828032"/>
            <a:ext cx="713231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Campanile Prime</a:t>
            </a:r>
          </a:p>
        </p:txBody>
      </p:sp>
      <p:sp>
        <p:nvSpPr>
          <p:cNvPr id="210" name="TextBox 39"/>
          <p:cNvSpPr txBox="1"/>
          <p:nvPr/>
        </p:nvSpPr>
        <p:spPr>
          <a:xfrm>
            <a:off x="8138159" y="4828032"/>
            <a:ext cx="1554481" cy="25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3 ★</a:t>
            </a:r>
          </a:p>
        </p:txBody>
      </p:sp>
      <p:sp>
        <p:nvSpPr>
          <p:cNvPr id="211" name="TextBox 40"/>
          <p:cNvSpPr txBox="1"/>
          <p:nvPr/>
        </p:nvSpPr>
        <p:spPr>
          <a:xfrm>
            <a:off x="9875518" y="4828032"/>
            <a:ext cx="16459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~70</a:t>
            </a:r>
          </a:p>
        </p:txBody>
      </p:sp>
      <p:sp>
        <p:nvSpPr>
          <p:cNvPr id="212" name="Rectangle 41"/>
          <p:cNvSpPr/>
          <p:nvPr/>
        </p:nvSpPr>
        <p:spPr>
          <a:xfrm>
            <a:off x="640080" y="5120640"/>
            <a:ext cx="10881360" cy="365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42"/>
          <p:cNvSpPr txBox="1"/>
          <p:nvPr/>
        </p:nvSpPr>
        <p:spPr>
          <a:xfrm>
            <a:off x="822959" y="519379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Hotel Muse La Baguette</a:t>
            </a:r>
          </a:p>
        </p:txBody>
      </p:sp>
      <p:sp>
        <p:nvSpPr>
          <p:cNvPr id="214" name="TextBox 43"/>
          <p:cNvSpPr txBox="1"/>
          <p:nvPr/>
        </p:nvSpPr>
        <p:spPr>
          <a:xfrm>
            <a:off x="8138159" y="5193791"/>
            <a:ext cx="155448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2-3 ★</a:t>
            </a:r>
          </a:p>
        </p:txBody>
      </p:sp>
      <p:sp>
        <p:nvSpPr>
          <p:cNvPr id="215" name="TextBox 44"/>
          <p:cNvSpPr txBox="1"/>
          <p:nvPr/>
        </p:nvSpPr>
        <p:spPr>
          <a:xfrm>
            <a:off x="9875518" y="5193791"/>
            <a:ext cx="16459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~30</a:t>
            </a:r>
          </a:p>
        </p:txBody>
      </p:sp>
      <p:sp>
        <p:nvSpPr>
          <p:cNvPr id="216" name="Rectangle 45"/>
          <p:cNvSpPr/>
          <p:nvPr/>
        </p:nvSpPr>
        <p:spPr>
          <a:xfrm>
            <a:off x="640080" y="5486399"/>
            <a:ext cx="10881360" cy="365762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46"/>
          <p:cNvSpPr txBox="1"/>
          <p:nvPr/>
        </p:nvSpPr>
        <p:spPr>
          <a:xfrm>
            <a:off x="822959" y="5559552"/>
            <a:ext cx="713231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12A33"/>
                </a:solidFill>
              </a:defRPr>
            </a:lvl1pPr>
          </a:lstStyle>
          <a:p>
            <a:pPr/>
            <a:r>
              <a:t>TOTAL chambres concurrentes</a:t>
            </a:r>
          </a:p>
        </p:txBody>
      </p:sp>
      <p:sp>
        <p:nvSpPr>
          <p:cNvPr id="218" name="TextBox 48"/>
          <p:cNvSpPr txBox="1"/>
          <p:nvPr/>
        </p:nvSpPr>
        <p:spPr>
          <a:xfrm>
            <a:off x="9875518" y="5559552"/>
            <a:ext cx="16459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12A33"/>
                </a:solidFill>
              </a:defRPr>
            </a:lvl1pPr>
          </a:lstStyle>
          <a:p>
            <a:pPr/>
            <a:r>
              <a:t>~553</a:t>
            </a:r>
          </a:p>
        </p:txBody>
      </p:sp>
      <p:sp>
        <p:nvSpPr>
          <p:cNvPr id="219" name="Rectangle 49"/>
          <p:cNvSpPr/>
          <p:nvPr/>
        </p:nvSpPr>
        <p:spPr>
          <a:xfrm>
            <a:off x="640080" y="6035040"/>
            <a:ext cx="10972801" cy="640081"/>
          </a:xfrm>
          <a:prstGeom prst="rect">
            <a:avLst/>
          </a:prstGeom>
          <a:solidFill>
            <a:srgbClr val="212A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50"/>
          <p:cNvSpPr txBox="1"/>
          <p:nvPr/>
        </p:nvSpPr>
        <p:spPr>
          <a:xfrm>
            <a:off x="777239" y="6080759"/>
            <a:ext cx="10698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9A961"/>
                </a:solidFill>
              </a:defRPr>
            </a:lvl1pPr>
          </a:lstStyle>
          <a:p>
            <a:pPr/>
            <a:r>
              <a:t>Hôtel rentable dès 60 % d'occupation → ~330 chambres louées/jour sur le marché.</a:t>
            </a:r>
          </a:p>
        </p:txBody>
      </p:sp>
      <p:sp>
        <p:nvSpPr>
          <p:cNvPr id="221" name="TextBox 51"/>
          <p:cNvSpPr txBox="1"/>
          <p:nvPr/>
        </p:nvSpPr>
        <p:spPr>
          <a:xfrm>
            <a:off x="777239" y="6355079"/>
            <a:ext cx="10698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Notre offre : 5 lots × 97 % d'occupation = 4,85 lots/jour, soit 1,5 % du flux concurrent — pas de saturation.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Plan de financement</a:t>
            </a:r>
          </a:p>
        </p:txBody>
      </p:sp>
      <p:sp>
        <p:nvSpPr>
          <p:cNvPr id="226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Coût total 738 K€ — apport 150 K€ — emprunt 588 K€</a:t>
            </a:r>
          </a:p>
        </p:txBody>
      </p:sp>
      <p:sp>
        <p:nvSpPr>
          <p:cNvPr id="227" name="Rectangle 5"/>
          <p:cNvSpPr/>
          <p:nvPr/>
        </p:nvSpPr>
        <p:spPr>
          <a:xfrm>
            <a:off x="914400" y="1828799"/>
            <a:ext cx="10058400" cy="548642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6"/>
          <p:cNvSpPr txBox="1"/>
          <p:nvPr/>
        </p:nvSpPr>
        <p:spPr>
          <a:xfrm>
            <a:off x="1143000" y="1965960"/>
            <a:ext cx="525780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Poste</a:t>
            </a:r>
          </a:p>
        </p:txBody>
      </p:sp>
      <p:sp>
        <p:nvSpPr>
          <p:cNvPr id="229" name="TextBox 7"/>
          <p:cNvSpPr txBox="1"/>
          <p:nvPr/>
        </p:nvSpPr>
        <p:spPr>
          <a:xfrm>
            <a:off x="6629400" y="1965960"/>
            <a:ext cx="434340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Montant</a:t>
            </a:r>
          </a:p>
        </p:txBody>
      </p:sp>
      <p:sp>
        <p:nvSpPr>
          <p:cNvPr id="230" name="Rectangle 8"/>
          <p:cNvSpPr/>
          <p:nvPr/>
        </p:nvSpPr>
        <p:spPr>
          <a:xfrm>
            <a:off x="914400" y="2377439"/>
            <a:ext cx="10058400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9"/>
          <p:cNvSpPr txBox="1"/>
          <p:nvPr/>
        </p:nvSpPr>
        <p:spPr>
          <a:xfrm>
            <a:off x="1143000" y="2468879"/>
            <a:ext cx="50292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Achat</a:t>
            </a:r>
          </a:p>
        </p:txBody>
      </p:sp>
      <p:sp>
        <p:nvSpPr>
          <p:cNvPr id="232" name="TextBox 10"/>
          <p:cNvSpPr txBox="1"/>
          <p:nvPr/>
        </p:nvSpPr>
        <p:spPr>
          <a:xfrm>
            <a:off x="6583680" y="24688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350 000 €</a:t>
            </a:r>
          </a:p>
        </p:txBody>
      </p:sp>
      <p:sp>
        <p:nvSpPr>
          <p:cNvPr id="233" name="Rectangle 11"/>
          <p:cNvSpPr/>
          <p:nvPr/>
        </p:nvSpPr>
        <p:spPr>
          <a:xfrm>
            <a:off x="914400" y="2834639"/>
            <a:ext cx="10058400" cy="4572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2"/>
          <p:cNvSpPr txBox="1"/>
          <p:nvPr/>
        </p:nvSpPr>
        <p:spPr>
          <a:xfrm>
            <a:off x="1143000" y="2926079"/>
            <a:ext cx="50292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Frais de notaire (8 %)</a:t>
            </a:r>
          </a:p>
        </p:txBody>
      </p:sp>
      <p:sp>
        <p:nvSpPr>
          <p:cNvPr id="235" name="TextBox 13"/>
          <p:cNvSpPr txBox="1"/>
          <p:nvPr/>
        </p:nvSpPr>
        <p:spPr>
          <a:xfrm>
            <a:off x="6583680" y="29260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28 000 €</a:t>
            </a:r>
          </a:p>
        </p:txBody>
      </p:sp>
      <p:sp>
        <p:nvSpPr>
          <p:cNvPr id="236" name="Rectangle 14"/>
          <p:cNvSpPr/>
          <p:nvPr/>
        </p:nvSpPr>
        <p:spPr>
          <a:xfrm>
            <a:off x="914400" y="3291840"/>
            <a:ext cx="10058400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15"/>
          <p:cNvSpPr txBox="1"/>
          <p:nvPr/>
        </p:nvSpPr>
        <p:spPr>
          <a:xfrm>
            <a:off x="1143000" y="3383279"/>
            <a:ext cx="50292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Travaux (rénovation HG)</a:t>
            </a:r>
          </a:p>
        </p:txBody>
      </p:sp>
      <p:sp>
        <p:nvSpPr>
          <p:cNvPr id="238" name="TextBox 16"/>
          <p:cNvSpPr txBox="1"/>
          <p:nvPr/>
        </p:nvSpPr>
        <p:spPr>
          <a:xfrm>
            <a:off x="6583680" y="33832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300 000 €</a:t>
            </a:r>
          </a:p>
        </p:txBody>
      </p:sp>
      <p:sp>
        <p:nvSpPr>
          <p:cNvPr id="239" name="Rectangle 17"/>
          <p:cNvSpPr/>
          <p:nvPr/>
        </p:nvSpPr>
        <p:spPr>
          <a:xfrm>
            <a:off x="914400" y="3749038"/>
            <a:ext cx="10058400" cy="4572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18"/>
          <p:cNvSpPr txBox="1"/>
          <p:nvPr/>
        </p:nvSpPr>
        <p:spPr>
          <a:xfrm>
            <a:off x="1143000" y="3840479"/>
            <a:ext cx="50292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Ameublement</a:t>
            </a:r>
          </a:p>
        </p:txBody>
      </p:sp>
      <p:sp>
        <p:nvSpPr>
          <p:cNvPr id="241" name="TextBox 19"/>
          <p:cNvSpPr txBox="1"/>
          <p:nvPr/>
        </p:nvSpPr>
        <p:spPr>
          <a:xfrm>
            <a:off x="6583680" y="38404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50 000 €</a:t>
            </a:r>
          </a:p>
        </p:txBody>
      </p:sp>
      <p:sp>
        <p:nvSpPr>
          <p:cNvPr id="242" name="Rectangle 20"/>
          <p:cNvSpPr/>
          <p:nvPr/>
        </p:nvSpPr>
        <p:spPr>
          <a:xfrm>
            <a:off x="914400" y="4206240"/>
            <a:ext cx="10058400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21"/>
          <p:cNvSpPr txBox="1"/>
          <p:nvPr/>
        </p:nvSpPr>
        <p:spPr>
          <a:xfrm>
            <a:off x="1143000" y="4297679"/>
            <a:ext cx="50292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Frais bancaires (dossier + caution)</a:t>
            </a:r>
          </a:p>
        </p:txBody>
      </p:sp>
      <p:sp>
        <p:nvSpPr>
          <p:cNvPr id="244" name="TextBox 22"/>
          <p:cNvSpPr txBox="1"/>
          <p:nvPr/>
        </p:nvSpPr>
        <p:spPr>
          <a:xfrm>
            <a:off x="6583680" y="42976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10 000 €</a:t>
            </a:r>
          </a:p>
        </p:txBody>
      </p:sp>
      <p:sp>
        <p:nvSpPr>
          <p:cNvPr id="245" name="Rectangle 23"/>
          <p:cNvSpPr/>
          <p:nvPr/>
        </p:nvSpPr>
        <p:spPr>
          <a:xfrm>
            <a:off x="914400" y="4663440"/>
            <a:ext cx="10058400" cy="45720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24"/>
          <p:cNvSpPr txBox="1"/>
          <p:nvPr/>
        </p:nvSpPr>
        <p:spPr>
          <a:xfrm>
            <a:off x="1143000" y="4754879"/>
            <a:ext cx="50292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12A33"/>
                </a:solidFill>
              </a:defRPr>
            </a:lvl1pPr>
          </a:lstStyle>
          <a:p>
            <a:pPr/>
            <a:r>
              <a:t>COÛT TOTAL OPÉRATION</a:t>
            </a:r>
          </a:p>
        </p:txBody>
      </p:sp>
      <p:sp>
        <p:nvSpPr>
          <p:cNvPr id="247" name="TextBox 25"/>
          <p:cNvSpPr txBox="1"/>
          <p:nvPr/>
        </p:nvSpPr>
        <p:spPr>
          <a:xfrm>
            <a:off x="6583680" y="47548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300">
                <a:solidFill>
                  <a:srgbClr val="212A33"/>
                </a:solidFill>
              </a:defRPr>
            </a:lvl1pPr>
          </a:lstStyle>
          <a:p>
            <a:pPr/>
            <a:r>
              <a:t>738 000 €</a:t>
            </a:r>
          </a:p>
        </p:txBody>
      </p:sp>
      <p:sp>
        <p:nvSpPr>
          <p:cNvPr id="248" name="Rectangle 26"/>
          <p:cNvSpPr/>
          <p:nvPr/>
        </p:nvSpPr>
        <p:spPr>
          <a:xfrm>
            <a:off x="914400" y="5120640"/>
            <a:ext cx="10058400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27"/>
          <p:cNvSpPr txBox="1"/>
          <p:nvPr/>
        </p:nvSpPr>
        <p:spPr>
          <a:xfrm>
            <a:off x="1143000" y="5212079"/>
            <a:ext cx="50292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Apport (Marc 75 K + Antoine 75 K)</a:t>
            </a:r>
          </a:p>
        </p:txBody>
      </p:sp>
      <p:sp>
        <p:nvSpPr>
          <p:cNvPr id="250" name="TextBox 28"/>
          <p:cNvSpPr txBox="1"/>
          <p:nvPr/>
        </p:nvSpPr>
        <p:spPr>
          <a:xfrm>
            <a:off x="6583680" y="52120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300">
                <a:solidFill>
                  <a:srgbClr val="333333"/>
                </a:solidFill>
              </a:defRPr>
            </a:lvl1pPr>
          </a:lstStyle>
          <a:p>
            <a:pPr/>
            <a:r>
              <a:t>150 000 €</a:t>
            </a:r>
          </a:p>
        </p:txBody>
      </p:sp>
      <p:sp>
        <p:nvSpPr>
          <p:cNvPr id="251" name="Rectangle 29"/>
          <p:cNvSpPr/>
          <p:nvPr/>
        </p:nvSpPr>
        <p:spPr>
          <a:xfrm>
            <a:off x="914400" y="5577840"/>
            <a:ext cx="10058400" cy="45720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30"/>
          <p:cNvSpPr txBox="1"/>
          <p:nvPr/>
        </p:nvSpPr>
        <p:spPr>
          <a:xfrm>
            <a:off x="1143000" y="5669279"/>
            <a:ext cx="50292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12A33"/>
                </a:solidFill>
              </a:defRPr>
            </a:lvl1pPr>
          </a:lstStyle>
          <a:p>
            <a:pPr/>
            <a:r>
              <a:t>EMPRUNT SOLLICITÉ</a:t>
            </a:r>
          </a:p>
        </p:txBody>
      </p:sp>
      <p:sp>
        <p:nvSpPr>
          <p:cNvPr id="253" name="TextBox 31"/>
          <p:cNvSpPr txBox="1"/>
          <p:nvPr/>
        </p:nvSpPr>
        <p:spPr>
          <a:xfrm>
            <a:off x="6583680" y="5669279"/>
            <a:ext cx="41148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300">
                <a:solidFill>
                  <a:srgbClr val="212A33"/>
                </a:solidFill>
              </a:defRPr>
            </a:lvl1pPr>
          </a:lstStyle>
          <a:p>
            <a:pPr/>
            <a:r>
              <a:t>588 000 €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Plan A — LCD  &amp;  Plan B — Location longue durée</a:t>
            </a:r>
          </a:p>
        </p:txBody>
      </p:sp>
      <p:sp>
        <p:nvSpPr>
          <p:cNvPr id="258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Revenus mensuels — régime plein</a:t>
            </a:r>
          </a:p>
        </p:txBody>
      </p:sp>
      <p:sp>
        <p:nvSpPr>
          <p:cNvPr id="259" name="Rectangle 5"/>
          <p:cNvSpPr/>
          <p:nvPr/>
        </p:nvSpPr>
        <p:spPr>
          <a:xfrm>
            <a:off x="457200" y="1737360"/>
            <a:ext cx="5486400" cy="548641"/>
          </a:xfrm>
          <a:prstGeom prst="rect">
            <a:avLst/>
          </a:prstGeom>
          <a:solidFill>
            <a:srgbClr val="0070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6"/>
          <p:cNvSpPr txBox="1"/>
          <p:nvPr/>
        </p:nvSpPr>
        <p:spPr>
          <a:xfrm>
            <a:off x="457200" y="1828799"/>
            <a:ext cx="54864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PLAN A — Location courte durée</a:t>
            </a:r>
          </a:p>
        </p:txBody>
      </p:sp>
      <p:sp>
        <p:nvSpPr>
          <p:cNvPr id="261" name="Rectangle 7"/>
          <p:cNvSpPr/>
          <p:nvPr/>
        </p:nvSpPr>
        <p:spPr>
          <a:xfrm>
            <a:off x="457200" y="2285999"/>
            <a:ext cx="5486400" cy="6400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8"/>
          <p:cNvSpPr txBox="1"/>
          <p:nvPr/>
        </p:nvSpPr>
        <p:spPr>
          <a:xfrm>
            <a:off x="640080" y="2450592"/>
            <a:ext cx="32004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Revenus NET de charges</a:t>
            </a:r>
          </a:p>
        </p:txBody>
      </p:sp>
      <p:sp>
        <p:nvSpPr>
          <p:cNvPr id="263" name="TextBox 9"/>
          <p:cNvSpPr txBox="1"/>
          <p:nvPr/>
        </p:nvSpPr>
        <p:spPr>
          <a:xfrm>
            <a:off x="3931920" y="2423160"/>
            <a:ext cx="18288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+10 712 €</a:t>
            </a:r>
          </a:p>
        </p:txBody>
      </p:sp>
      <p:sp>
        <p:nvSpPr>
          <p:cNvPr id="264" name="Rectangle 10"/>
          <p:cNvSpPr/>
          <p:nvPr/>
        </p:nvSpPr>
        <p:spPr>
          <a:xfrm>
            <a:off x="457200" y="2926079"/>
            <a:ext cx="5486400" cy="64008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11"/>
          <p:cNvSpPr txBox="1"/>
          <p:nvPr/>
        </p:nvSpPr>
        <p:spPr>
          <a:xfrm>
            <a:off x="640080" y="3090672"/>
            <a:ext cx="32004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/>
            <a:r>
              <a:t>Mensualité prêt</a:t>
            </a:r>
          </a:p>
        </p:txBody>
      </p:sp>
      <p:sp>
        <p:nvSpPr>
          <p:cNvPr id="266" name="TextBox 12"/>
          <p:cNvSpPr txBox="1"/>
          <p:nvPr/>
        </p:nvSpPr>
        <p:spPr>
          <a:xfrm>
            <a:off x="3931920" y="3063239"/>
            <a:ext cx="18288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-3 502 €</a:t>
            </a:r>
          </a:p>
        </p:txBody>
      </p:sp>
      <p:sp>
        <p:nvSpPr>
          <p:cNvPr id="267" name="Rectangle 13"/>
          <p:cNvSpPr/>
          <p:nvPr/>
        </p:nvSpPr>
        <p:spPr>
          <a:xfrm>
            <a:off x="457200" y="3566159"/>
            <a:ext cx="5486400" cy="640081"/>
          </a:xfrm>
          <a:prstGeom prst="rect">
            <a:avLst/>
          </a:prstGeom>
          <a:solidFill>
            <a:srgbClr val="0070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14"/>
          <p:cNvSpPr txBox="1"/>
          <p:nvPr/>
        </p:nvSpPr>
        <p:spPr>
          <a:xfrm>
            <a:off x="640080" y="3730752"/>
            <a:ext cx="32004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Cash flow AVANT IMPÔT</a:t>
            </a:r>
          </a:p>
        </p:txBody>
      </p:sp>
      <p:sp>
        <p:nvSpPr>
          <p:cNvPr id="269" name="TextBox 15"/>
          <p:cNvSpPr txBox="1"/>
          <p:nvPr/>
        </p:nvSpPr>
        <p:spPr>
          <a:xfrm>
            <a:off x="3931920" y="3703320"/>
            <a:ext cx="18288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+7 210 €</a:t>
            </a:r>
          </a:p>
        </p:txBody>
      </p:sp>
      <p:sp>
        <p:nvSpPr>
          <p:cNvPr id="270" name="Rectangle 16"/>
          <p:cNvSpPr/>
          <p:nvPr/>
        </p:nvSpPr>
        <p:spPr>
          <a:xfrm>
            <a:off x="6217920" y="1737360"/>
            <a:ext cx="5486401" cy="54864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17"/>
          <p:cNvSpPr txBox="1"/>
          <p:nvPr/>
        </p:nvSpPr>
        <p:spPr>
          <a:xfrm>
            <a:off x="6217920" y="1828799"/>
            <a:ext cx="5486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PLAN B — Location longue durée</a:t>
            </a:r>
          </a:p>
        </p:txBody>
      </p:sp>
      <p:sp>
        <p:nvSpPr>
          <p:cNvPr id="272" name="Rectangle 18"/>
          <p:cNvSpPr/>
          <p:nvPr/>
        </p:nvSpPr>
        <p:spPr>
          <a:xfrm>
            <a:off x="6217920" y="2285999"/>
            <a:ext cx="5486401" cy="4114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19"/>
          <p:cNvSpPr txBox="1"/>
          <p:nvPr/>
        </p:nvSpPr>
        <p:spPr>
          <a:xfrm>
            <a:off x="6400800" y="2350007"/>
            <a:ext cx="32004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Loyer T2 (2 lots × 850 €)</a:t>
            </a:r>
          </a:p>
        </p:txBody>
      </p:sp>
      <p:sp>
        <p:nvSpPr>
          <p:cNvPr id="274" name="TextBox 20"/>
          <p:cNvSpPr txBox="1"/>
          <p:nvPr/>
        </p:nvSpPr>
        <p:spPr>
          <a:xfrm>
            <a:off x="9692640" y="2350007"/>
            <a:ext cx="18288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200">
                <a:solidFill>
                  <a:srgbClr val="333333"/>
                </a:solidFill>
              </a:defRPr>
            </a:lvl1pPr>
          </a:lstStyle>
          <a:p>
            <a:pPr/>
            <a:r>
              <a:t>+1 700 €</a:t>
            </a:r>
          </a:p>
        </p:txBody>
      </p:sp>
      <p:sp>
        <p:nvSpPr>
          <p:cNvPr id="275" name="Rectangle 21"/>
          <p:cNvSpPr/>
          <p:nvPr/>
        </p:nvSpPr>
        <p:spPr>
          <a:xfrm>
            <a:off x="6217920" y="2697479"/>
            <a:ext cx="5486401" cy="41148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22"/>
          <p:cNvSpPr txBox="1"/>
          <p:nvPr/>
        </p:nvSpPr>
        <p:spPr>
          <a:xfrm>
            <a:off x="6400800" y="2761488"/>
            <a:ext cx="32004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Loyer T3 (3 lots × 1 250 €)</a:t>
            </a:r>
          </a:p>
        </p:txBody>
      </p:sp>
      <p:sp>
        <p:nvSpPr>
          <p:cNvPr id="277" name="TextBox 23"/>
          <p:cNvSpPr txBox="1"/>
          <p:nvPr/>
        </p:nvSpPr>
        <p:spPr>
          <a:xfrm>
            <a:off x="9692640" y="2761488"/>
            <a:ext cx="18288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200">
                <a:solidFill>
                  <a:srgbClr val="333333"/>
                </a:solidFill>
              </a:defRPr>
            </a:lvl1pPr>
          </a:lstStyle>
          <a:p>
            <a:pPr/>
            <a:r>
              <a:t>+3 750 €</a:t>
            </a:r>
          </a:p>
        </p:txBody>
      </p:sp>
      <p:sp>
        <p:nvSpPr>
          <p:cNvPr id="278" name="Rectangle 24"/>
          <p:cNvSpPr/>
          <p:nvPr/>
        </p:nvSpPr>
        <p:spPr>
          <a:xfrm>
            <a:off x="6217920" y="3108960"/>
            <a:ext cx="5486401" cy="41148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25"/>
          <p:cNvSpPr txBox="1"/>
          <p:nvPr/>
        </p:nvSpPr>
        <p:spPr>
          <a:xfrm>
            <a:off x="6400800" y="3172967"/>
            <a:ext cx="32004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6454F"/>
                </a:solidFill>
              </a:defRPr>
            </a:lvl1pPr>
          </a:lstStyle>
          <a:p>
            <a:pPr/>
            <a:r>
              <a:t>    Total loyers</a:t>
            </a:r>
          </a:p>
        </p:txBody>
      </p:sp>
      <p:sp>
        <p:nvSpPr>
          <p:cNvPr id="280" name="TextBox 26"/>
          <p:cNvSpPr txBox="1"/>
          <p:nvPr/>
        </p:nvSpPr>
        <p:spPr>
          <a:xfrm>
            <a:off x="9692640" y="3172967"/>
            <a:ext cx="18288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200">
                <a:solidFill>
                  <a:srgbClr val="36454F"/>
                </a:solidFill>
              </a:defRPr>
            </a:lvl1pPr>
          </a:lstStyle>
          <a:p>
            <a:pPr/>
            <a:r>
              <a:t>+5 450 €</a:t>
            </a:r>
          </a:p>
        </p:txBody>
      </p:sp>
      <p:sp>
        <p:nvSpPr>
          <p:cNvPr id="281" name="Rectangle 27"/>
          <p:cNvSpPr/>
          <p:nvPr/>
        </p:nvSpPr>
        <p:spPr>
          <a:xfrm>
            <a:off x="6217920" y="3520440"/>
            <a:ext cx="5486401" cy="41148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28"/>
          <p:cNvSpPr txBox="1"/>
          <p:nvPr/>
        </p:nvSpPr>
        <p:spPr>
          <a:xfrm>
            <a:off x="6400800" y="3584447"/>
            <a:ext cx="32004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Charges propriétaire</a:t>
            </a:r>
          </a:p>
        </p:txBody>
      </p:sp>
      <p:sp>
        <p:nvSpPr>
          <p:cNvPr id="283" name="TextBox 29"/>
          <p:cNvSpPr txBox="1"/>
          <p:nvPr/>
        </p:nvSpPr>
        <p:spPr>
          <a:xfrm>
            <a:off x="9692640" y="3584447"/>
            <a:ext cx="18288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200">
                <a:solidFill>
                  <a:srgbClr val="333333"/>
                </a:solidFill>
              </a:defRPr>
            </a:lvl1pPr>
          </a:lstStyle>
          <a:p>
            <a:pPr/>
            <a:r>
              <a:t>-579 €</a:t>
            </a:r>
          </a:p>
        </p:txBody>
      </p:sp>
      <p:sp>
        <p:nvSpPr>
          <p:cNvPr id="284" name="Rectangle 30"/>
          <p:cNvSpPr/>
          <p:nvPr/>
        </p:nvSpPr>
        <p:spPr>
          <a:xfrm>
            <a:off x="6217920" y="3931920"/>
            <a:ext cx="5486401" cy="411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31"/>
          <p:cNvSpPr txBox="1"/>
          <p:nvPr/>
        </p:nvSpPr>
        <p:spPr>
          <a:xfrm>
            <a:off x="6400800" y="3995928"/>
            <a:ext cx="32004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Mensualité prêt</a:t>
            </a:r>
          </a:p>
        </p:txBody>
      </p:sp>
      <p:sp>
        <p:nvSpPr>
          <p:cNvPr id="286" name="TextBox 32"/>
          <p:cNvSpPr txBox="1"/>
          <p:nvPr/>
        </p:nvSpPr>
        <p:spPr>
          <a:xfrm>
            <a:off x="9692640" y="3995928"/>
            <a:ext cx="18288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200">
                <a:solidFill>
                  <a:srgbClr val="333333"/>
                </a:solidFill>
              </a:defRPr>
            </a:lvl1pPr>
          </a:lstStyle>
          <a:p>
            <a:pPr/>
            <a:r>
              <a:t>-3 502 €</a:t>
            </a:r>
          </a:p>
        </p:txBody>
      </p:sp>
      <p:sp>
        <p:nvSpPr>
          <p:cNvPr id="287" name="Rectangle 33"/>
          <p:cNvSpPr/>
          <p:nvPr/>
        </p:nvSpPr>
        <p:spPr>
          <a:xfrm>
            <a:off x="6217920" y="4343399"/>
            <a:ext cx="5486401" cy="411482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34"/>
          <p:cNvSpPr txBox="1"/>
          <p:nvPr/>
        </p:nvSpPr>
        <p:spPr>
          <a:xfrm>
            <a:off x="6400800" y="4407408"/>
            <a:ext cx="32004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Cash flow AVANT IMPÔT</a:t>
            </a:r>
          </a:p>
        </p:txBody>
      </p:sp>
      <p:sp>
        <p:nvSpPr>
          <p:cNvPr id="289" name="TextBox 35"/>
          <p:cNvSpPr txBox="1"/>
          <p:nvPr/>
        </p:nvSpPr>
        <p:spPr>
          <a:xfrm>
            <a:off x="9692640" y="4407408"/>
            <a:ext cx="18288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+1 369 €</a:t>
            </a:r>
          </a:p>
        </p:txBody>
      </p:sp>
      <p:sp>
        <p:nvSpPr>
          <p:cNvPr id="290" name="TextBox 36"/>
          <p:cNvSpPr txBox="1"/>
          <p:nvPr/>
        </p:nvSpPr>
        <p:spPr>
          <a:xfrm>
            <a:off x="457199" y="6126479"/>
            <a:ext cx="112471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888888"/>
                </a:solidFill>
              </a:defRPr>
            </a:lvl1pPr>
          </a:lstStyle>
          <a:p>
            <a:pPr/>
            <a:r>
              <a:t>Plan B (location nue meublée valeurs marché Saint-Genis) sécurise le projet : couvre intégralement crédit et charges.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Cash flow projet — Cumulé sur 3 ans</a:t>
            </a:r>
          </a:p>
        </p:txBody>
      </p:sp>
      <p:sp>
        <p:nvSpPr>
          <p:cNvPr id="295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Travaux M1-M6 + Montée M7-M9 + Régime plein M10+ / Différé partiel 18 mois</a:t>
            </a:r>
          </a:p>
        </p:txBody>
      </p:sp>
      <p:graphicFrame>
        <p:nvGraphicFramePr>
          <p:cNvPr id="296" name="Chart 5"/>
          <p:cNvGraphicFramePr/>
          <p:nvPr/>
        </p:nvGraphicFramePr>
        <p:xfrm>
          <a:off x="1401233" y="1837035"/>
          <a:ext cx="8949267" cy="35928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7" name="TextBox 6"/>
          <p:cNvSpPr txBox="1"/>
          <p:nvPr/>
        </p:nvSpPr>
        <p:spPr>
          <a:xfrm>
            <a:off x="914400" y="5760720"/>
            <a:ext cx="1005840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007033"/>
                </a:solidFill>
              </a:defRPr>
            </a:lvl1pPr>
          </a:lstStyle>
          <a:p>
            <a:pPr/>
            <a:r>
              <a:t>Cumulé fin An 3 : ~215 K€ de cash flow projet généré (avant impôt)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Structure juridique</a:t>
            </a:r>
          </a:p>
        </p:txBody>
      </p:sp>
      <p:sp>
        <p:nvSpPr>
          <p:cNvPr id="302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4 sociétés à constituer — séparation patrimoine / exploitation</a:t>
            </a:r>
          </a:p>
        </p:txBody>
      </p:sp>
      <p:sp>
        <p:nvSpPr>
          <p:cNvPr id="303" name="Rectangle 5"/>
          <p:cNvSpPr/>
          <p:nvPr/>
        </p:nvSpPr>
        <p:spPr>
          <a:xfrm>
            <a:off x="1371600" y="1828800"/>
            <a:ext cx="3200400" cy="9144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6"/>
          <p:cNvSpPr txBox="1"/>
          <p:nvPr/>
        </p:nvSpPr>
        <p:spPr>
          <a:xfrm>
            <a:off x="1371600" y="1920239"/>
            <a:ext cx="32004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Holding Marc (SAS)</a:t>
            </a:r>
          </a:p>
        </p:txBody>
      </p:sp>
      <p:sp>
        <p:nvSpPr>
          <p:cNvPr id="305" name="TextBox 7"/>
          <p:cNvSpPr txBox="1"/>
          <p:nvPr/>
        </p:nvSpPr>
        <p:spPr>
          <a:xfrm>
            <a:off x="1371600" y="2331720"/>
            <a:ext cx="32004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C9A961"/>
                </a:solidFill>
              </a:defRPr>
            </a:lvl1pPr>
          </a:lstStyle>
          <a:p>
            <a:pPr/>
            <a:r>
              <a:t>50 %</a:t>
            </a:r>
          </a:p>
        </p:txBody>
      </p:sp>
      <p:sp>
        <p:nvSpPr>
          <p:cNvPr id="306" name="Rectangle 8"/>
          <p:cNvSpPr/>
          <p:nvPr/>
        </p:nvSpPr>
        <p:spPr>
          <a:xfrm>
            <a:off x="7772400" y="1828800"/>
            <a:ext cx="3200400" cy="9144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9"/>
          <p:cNvSpPr txBox="1"/>
          <p:nvPr/>
        </p:nvSpPr>
        <p:spPr>
          <a:xfrm>
            <a:off x="7772400" y="1920239"/>
            <a:ext cx="32004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Holding Antoine (SAS)</a:t>
            </a:r>
          </a:p>
        </p:txBody>
      </p:sp>
      <p:sp>
        <p:nvSpPr>
          <p:cNvPr id="308" name="TextBox 10"/>
          <p:cNvSpPr txBox="1"/>
          <p:nvPr/>
        </p:nvSpPr>
        <p:spPr>
          <a:xfrm>
            <a:off x="7772400" y="2331720"/>
            <a:ext cx="32004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C9A961"/>
                </a:solidFill>
              </a:defRPr>
            </a:lvl1pPr>
          </a:lstStyle>
          <a:p>
            <a:pPr/>
            <a:r>
              <a:t>50 %</a:t>
            </a:r>
          </a:p>
        </p:txBody>
      </p:sp>
      <p:sp>
        <p:nvSpPr>
          <p:cNvPr id="309" name="Connector 11"/>
          <p:cNvSpPr/>
          <p:nvPr/>
        </p:nvSpPr>
        <p:spPr>
          <a:xfrm>
            <a:off x="2971800" y="2743199"/>
            <a:ext cx="2057401" cy="640081"/>
          </a:xfrm>
          <a:prstGeom prst="line">
            <a:avLst/>
          </a:prstGeom>
          <a:ln w="25400">
            <a:solidFill>
              <a:srgbClr val="36454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" name="Connector 12"/>
          <p:cNvSpPr/>
          <p:nvPr/>
        </p:nvSpPr>
        <p:spPr>
          <a:xfrm flipH="1">
            <a:off x="7315199" y="2743199"/>
            <a:ext cx="2057401" cy="640081"/>
          </a:xfrm>
          <a:prstGeom prst="line">
            <a:avLst/>
          </a:prstGeom>
          <a:ln w="25400">
            <a:solidFill>
              <a:srgbClr val="36454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" name="Rectangle 13"/>
          <p:cNvSpPr/>
          <p:nvPr/>
        </p:nvSpPr>
        <p:spPr>
          <a:xfrm>
            <a:off x="4572000" y="3383279"/>
            <a:ext cx="3200400" cy="91440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14"/>
          <p:cNvSpPr txBox="1"/>
          <p:nvPr/>
        </p:nvSpPr>
        <p:spPr>
          <a:xfrm>
            <a:off x="4572000" y="3474720"/>
            <a:ext cx="320040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SCI à l'IS</a:t>
            </a:r>
          </a:p>
        </p:txBody>
      </p:sp>
      <p:sp>
        <p:nvSpPr>
          <p:cNvPr id="313" name="TextBox 15"/>
          <p:cNvSpPr txBox="1"/>
          <p:nvPr/>
        </p:nvSpPr>
        <p:spPr>
          <a:xfrm>
            <a:off x="4572000" y="3886199"/>
            <a:ext cx="32004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212A33"/>
                </a:solidFill>
              </a:defRPr>
            </a:lvl1pPr>
          </a:lstStyle>
          <a:p>
            <a:pPr/>
            <a:r>
              <a:t>Détient le bien</a:t>
            </a:r>
          </a:p>
        </p:txBody>
      </p:sp>
      <p:sp>
        <p:nvSpPr>
          <p:cNvPr id="314" name="Connector 16"/>
          <p:cNvSpPr/>
          <p:nvPr/>
        </p:nvSpPr>
        <p:spPr>
          <a:xfrm>
            <a:off x="6172200" y="4297679"/>
            <a:ext cx="0" cy="731521"/>
          </a:xfrm>
          <a:prstGeom prst="line">
            <a:avLst/>
          </a:prstGeom>
          <a:ln w="25400">
            <a:solidFill>
              <a:srgbClr val="36454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" name="TextBox 17"/>
          <p:cNvSpPr txBox="1"/>
          <p:nvPr/>
        </p:nvSpPr>
        <p:spPr>
          <a:xfrm>
            <a:off x="6400800" y="4480559"/>
            <a:ext cx="27432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C9A961"/>
                </a:solidFill>
              </a:defRPr>
            </a:lvl1pPr>
          </a:lstStyle>
          <a:p>
            <a:pPr/>
            <a:r>
              <a:t>bail commercial</a:t>
            </a:r>
          </a:p>
        </p:txBody>
      </p:sp>
      <p:sp>
        <p:nvSpPr>
          <p:cNvPr id="316" name="Rectangle 18"/>
          <p:cNvSpPr/>
          <p:nvPr/>
        </p:nvSpPr>
        <p:spPr>
          <a:xfrm>
            <a:off x="4572000" y="5029200"/>
            <a:ext cx="3200400" cy="9144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19"/>
          <p:cNvSpPr txBox="1"/>
          <p:nvPr/>
        </p:nvSpPr>
        <p:spPr>
          <a:xfrm>
            <a:off x="4572000" y="5120640"/>
            <a:ext cx="32004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SAS Conciergerie</a:t>
            </a:r>
          </a:p>
        </p:txBody>
      </p:sp>
      <p:sp>
        <p:nvSpPr>
          <p:cNvPr id="318" name="TextBox 20"/>
          <p:cNvSpPr txBox="1"/>
          <p:nvPr/>
        </p:nvSpPr>
        <p:spPr>
          <a:xfrm>
            <a:off x="4572000" y="5532120"/>
            <a:ext cx="32004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C9A961"/>
                </a:solidFill>
              </a:defRPr>
            </a:lvl1pPr>
          </a:lstStyle>
          <a:p>
            <a:pPr/>
            <a:r>
              <a:t>Exploite — encaisse Airbnb/Booking</a:t>
            </a:r>
          </a:p>
        </p:txBody>
      </p:sp>
      <p:sp>
        <p:nvSpPr>
          <p:cNvPr id="319" name="TextBox 21"/>
          <p:cNvSpPr txBox="1"/>
          <p:nvPr/>
        </p:nvSpPr>
        <p:spPr>
          <a:xfrm>
            <a:off x="640080" y="6263640"/>
            <a:ext cx="10972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333333"/>
                </a:solidFill>
              </a:defRPr>
            </a:lvl1pPr>
          </a:lstStyle>
          <a:p>
            <a:pPr/>
            <a:r>
              <a:t>Séparation propriétaire / exploitant : protection patrimoine + optimisation fiscale (mère-fille)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Rectangle 2"/>
          <p:cNvSpPr/>
          <p:nvPr/>
        </p:nvSpPr>
        <p:spPr>
          <a:xfrm>
            <a:off x="-1" y="0"/>
            <a:ext cx="274322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3"/>
          <p:cNvSpPr txBox="1"/>
          <p:nvPr/>
        </p:nvSpPr>
        <p:spPr>
          <a:xfrm>
            <a:off x="640080" y="365759"/>
            <a:ext cx="109728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36454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Stratégie fiscale</a:t>
            </a:r>
          </a:p>
        </p:txBody>
      </p:sp>
      <p:sp>
        <p:nvSpPr>
          <p:cNvPr id="324" name="TextBox 4"/>
          <p:cNvSpPr txBox="1"/>
          <p:nvPr/>
        </p:nvSpPr>
        <p:spPr>
          <a:xfrm>
            <a:off x="640080" y="1051560"/>
            <a:ext cx="109728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888888"/>
                </a:solidFill>
              </a:defRPr>
            </a:lvl1pPr>
          </a:lstStyle>
          <a:p>
            <a:pPr/>
            <a:r>
              <a:t>IS 15 % partout — bénéfices équilibrés sous seuil 42 500 €</a:t>
            </a:r>
          </a:p>
        </p:txBody>
      </p:sp>
      <p:sp>
        <p:nvSpPr>
          <p:cNvPr id="325" name="Rectangle 5"/>
          <p:cNvSpPr/>
          <p:nvPr/>
        </p:nvSpPr>
        <p:spPr>
          <a:xfrm>
            <a:off x="640080" y="1691639"/>
            <a:ext cx="5212080" cy="91440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6"/>
          <p:cNvSpPr txBox="1"/>
          <p:nvPr/>
        </p:nvSpPr>
        <p:spPr>
          <a:xfrm>
            <a:off x="822958" y="1783079"/>
            <a:ext cx="484632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Conciergerie SAS</a:t>
            </a:r>
          </a:p>
        </p:txBody>
      </p:sp>
      <p:sp>
        <p:nvSpPr>
          <p:cNvPr id="327" name="TextBox 7"/>
          <p:cNvSpPr txBox="1"/>
          <p:nvPr/>
        </p:nvSpPr>
        <p:spPr>
          <a:xfrm>
            <a:off x="822958" y="2285999"/>
            <a:ext cx="48463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Bénéfice ~42 K€/an</a:t>
            </a:r>
          </a:p>
        </p:txBody>
      </p:sp>
      <p:sp>
        <p:nvSpPr>
          <p:cNvPr id="328" name="TextBox 8"/>
          <p:cNvSpPr txBox="1"/>
          <p:nvPr/>
        </p:nvSpPr>
        <p:spPr>
          <a:xfrm>
            <a:off x="868678" y="283463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CA Airbnb / Booking en direct</a:t>
            </a:r>
          </a:p>
        </p:txBody>
      </p:sp>
      <p:sp>
        <p:nvSpPr>
          <p:cNvPr id="329" name="TextBox 9"/>
          <p:cNvSpPr txBox="1"/>
          <p:nvPr/>
        </p:nvSpPr>
        <p:spPr>
          <a:xfrm>
            <a:off x="868678" y="342899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Charges variables (ménage, blanchisserie...)</a:t>
            </a:r>
          </a:p>
        </p:txBody>
      </p:sp>
      <p:sp>
        <p:nvSpPr>
          <p:cNvPr id="330" name="TextBox 10"/>
          <p:cNvSpPr txBox="1"/>
          <p:nvPr/>
        </p:nvSpPr>
        <p:spPr>
          <a:xfrm>
            <a:off x="868678" y="402335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Loyer commercial → SCI</a:t>
            </a:r>
          </a:p>
        </p:txBody>
      </p:sp>
      <p:sp>
        <p:nvSpPr>
          <p:cNvPr id="331" name="TextBox 11"/>
          <p:cNvSpPr txBox="1"/>
          <p:nvPr/>
        </p:nvSpPr>
        <p:spPr>
          <a:xfrm>
            <a:off x="868678" y="4617720"/>
            <a:ext cx="4937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IS 15 % : ~6 400 €/an</a:t>
            </a:r>
          </a:p>
        </p:txBody>
      </p:sp>
      <p:sp>
        <p:nvSpPr>
          <p:cNvPr id="332" name="Rectangle 12"/>
          <p:cNvSpPr/>
          <p:nvPr/>
        </p:nvSpPr>
        <p:spPr>
          <a:xfrm>
            <a:off x="6400800" y="1691639"/>
            <a:ext cx="5212080" cy="91440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13"/>
          <p:cNvSpPr txBox="1"/>
          <p:nvPr/>
        </p:nvSpPr>
        <p:spPr>
          <a:xfrm>
            <a:off x="6583680" y="1783079"/>
            <a:ext cx="484632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SCI à l'IS</a:t>
            </a:r>
          </a:p>
        </p:txBody>
      </p:sp>
      <p:sp>
        <p:nvSpPr>
          <p:cNvPr id="334" name="TextBox 14"/>
          <p:cNvSpPr txBox="1"/>
          <p:nvPr/>
        </p:nvSpPr>
        <p:spPr>
          <a:xfrm>
            <a:off x="6583680" y="2285999"/>
            <a:ext cx="4846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212A33"/>
                </a:solidFill>
              </a:defRPr>
            </a:lvl1pPr>
          </a:lstStyle>
          <a:p>
            <a:pPr/>
            <a:r>
              <a:t>Bénéfice ~23 K€/an</a:t>
            </a:r>
          </a:p>
        </p:txBody>
      </p:sp>
      <p:sp>
        <p:nvSpPr>
          <p:cNvPr id="335" name="TextBox 15"/>
          <p:cNvSpPr txBox="1"/>
          <p:nvPr/>
        </p:nvSpPr>
        <p:spPr>
          <a:xfrm>
            <a:off x="6629400" y="283463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Encaisse loyer commercial</a:t>
            </a:r>
          </a:p>
        </p:txBody>
      </p:sp>
      <p:sp>
        <p:nvSpPr>
          <p:cNvPr id="336" name="TextBox 16"/>
          <p:cNvSpPr txBox="1"/>
          <p:nvPr/>
        </p:nvSpPr>
        <p:spPr>
          <a:xfrm>
            <a:off x="6629400" y="342899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Amort. bât. 30 ans + travaux 15 ans + mobilier 10 ans</a:t>
            </a:r>
          </a:p>
        </p:txBody>
      </p:sp>
      <p:sp>
        <p:nvSpPr>
          <p:cNvPr id="337" name="TextBox 17"/>
          <p:cNvSpPr txBox="1"/>
          <p:nvPr/>
        </p:nvSpPr>
        <p:spPr>
          <a:xfrm>
            <a:off x="6629400" y="402335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Intérêts emprunt déductibles</a:t>
            </a:r>
          </a:p>
        </p:txBody>
      </p:sp>
      <p:sp>
        <p:nvSpPr>
          <p:cNvPr id="338" name="TextBox 18"/>
          <p:cNvSpPr txBox="1"/>
          <p:nvPr/>
        </p:nvSpPr>
        <p:spPr>
          <a:xfrm>
            <a:off x="6629400" y="4617720"/>
            <a:ext cx="4937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•  IS 15 % : ~3 400 €/an</a:t>
            </a:r>
          </a:p>
        </p:txBody>
      </p:sp>
      <p:sp>
        <p:nvSpPr>
          <p:cNvPr id="339" name="TextBox 19"/>
          <p:cNvSpPr txBox="1"/>
          <p:nvPr/>
        </p:nvSpPr>
        <p:spPr>
          <a:xfrm>
            <a:off x="640080" y="5943600"/>
            <a:ext cx="109728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007033"/>
                </a:solidFill>
              </a:defRPr>
            </a:lvl1pPr>
          </a:lstStyle>
          <a:p>
            <a:pPr/>
            <a:r>
              <a:t>Total IS : ~9 800 €/an (15 % consolidé) au lieu de 25 % si on dépassait le seuil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TextBox 2"/>
          <p:cNvSpPr txBox="1"/>
          <p:nvPr/>
        </p:nvSpPr>
        <p:spPr>
          <a:xfrm>
            <a:off x="457199" y="457199"/>
            <a:ext cx="11247122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Notre demande</a:t>
            </a:r>
          </a:p>
        </p:txBody>
      </p:sp>
      <p:sp>
        <p:nvSpPr>
          <p:cNvPr id="343" name="TextBox 3"/>
          <p:cNvSpPr txBox="1"/>
          <p:nvPr/>
        </p:nvSpPr>
        <p:spPr>
          <a:xfrm>
            <a:off x="457199" y="1142999"/>
            <a:ext cx="11247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C9A961"/>
                </a:solidFill>
              </a:defRPr>
            </a:lvl1pPr>
          </a:lstStyle>
          <a:p>
            <a:pPr/>
            <a:r>
              <a:t>Conditions d'emprunt souhaitées</a:t>
            </a:r>
          </a:p>
        </p:txBody>
      </p:sp>
      <p:sp>
        <p:nvSpPr>
          <p:cNvPr id="344" name="Rectangle 4"/>
          <p:cNvSpPr/>
          <p:nvPr/>
        </p:nvSpPr>
        <p:spPr>
          <a:xfrm>
            <a:off x="640079" y="1737360"/>
            <a:ext cx="2560322" cy="118872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5"/>
          <p:cNvSpPr txBox="1"/>
          <p:nvPr/>
        </p:nvSpPr>
        <p:spPr>
          <a:xfrm>
            <a:off x="731519" y="1874518"/>
            <a:ext cx="23774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12A33"/>
                </a:solidFill>
              </a:defRPr>
            </a:lvl1pPr>
          </a:lstStyle>
          <a:p>
            <a:pPr/>
            <a:r>
              <a:t>MONTANT</a:t>
            </a:r>
          </a:p>
        </p:txBody>
      </p:sp>
      <p:sp>
        <p:nvSpPr>
          <p:cNvPr id="346" name="TextBox 6"/>
          <p:cNvSpPr txBox="1"/>
          <p:nvPr/>
        </p:nvSpPr>
        <p:spPr>
          <a:xfrm>
            <a:off x="731519" y="2194560"/>
            <a:ext cx="237744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588 K€</a:t>
            </a:r>
          </a:p>
        </p:txBody>
      </p:sp>
      <p:sp>
        <p:nvSpPr>
          <p:cNvPr id="347" name="Rectangle 7"/>
          <p:cNvSpPr/>
          <p:nvPr/>
        </p:nvSpPr>
        <p:spPr>
          <a:xfrm>
            <a:off x="3428999" y="1737360"/>
            <a:ext cx="2560322" cy="118872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8"/>
          <p:cNvSpPr txBox="1"/>
          <p:nvPr/>
        </p:nvSpPr>
        <p:spPr>
          <a:xfrm>
            <a:off x="3520440" y="1874518"/>
            <a:ext cx="23774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12A33"/>
                </a:solidFill>
              </a:defRPr>
            </a:lvl1pPr>
          </a:lstStyle>
          <a:p>
            <a:pPr/>
            <a:r>
              <a:t>DURÉE</a:t>
            </a:r>
          </a:p>
        </p:txBody>
      </p:sp>
      <p:sp>
        <p:nvSpPr>
          <p:cNvPr id="349" name="TextBox 9"/>
          <p:cNvSpPr txBox="1"/>
          <p:nvPr/>
        </p:nvSpPr>
        <p:spPr>
          <a:xfrm>
            <a:off x="3520440" y="2194560"/>
            <a:ext cx="23774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20 ans</a:t>
            </a:r>
          </a:p>
        </p:txBody>
      </p:sp>
      <p:sp>
        <p:nvSpPr>
          <p:cNvPr id="350" name="Rectangle 10"/>
          <p:cNvSpPr/>
          <p:nvPr/>
        </p:nvSpPr>
        <p:spPr>
          <a:xfrm>
            <a:off x="6217920" y="1737360"/>
            <a:ext cx="2560321" cy="118872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11"/>
          <p:cNvSpPr txBox="1"/>
          <p:nvPr/>
        </p:nvSpPr>
        <p:spPr>
          <a:xfrm>
            <a:off x="6309359" y="1874518"/>
            <a:ext cx="23774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12A33"/>
                </a:solidFill>
              </a:defRPr>
            </a:lvl1pPr>
          </a:lstStyle>
          <a:p>
            <a:pPr/>
            <a:r>
              <a:t>TAUX</a:t>
            </a:r>
          </a:p>
        </p:txBody>
      </p:sp>
      <p:sp>
        <p:nvSpPr>
          <p:cNvPr id="352" name="TextBox 12"/>
          <p:cNvSpPr txBox="1"/>
          <p:nvPr/>
        </p:nvSpPr>
        <p:spPr>
          <a:xfrm>
            <a:off x="6309359" y="2194560"/>
            <a:ext cx="23774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3,8 % visé</a:t>
            </a:r>
          </a:p>
        </p:txBody>
      </p:sp>
      <p:sp>
        <p:nvSpPr>
          <p:cNvPr id="353" name="Rectangle 13"/>
          <p:cNvSpPr/>
          <p:nvPr/>
        </p:nvSpPr>
        <p:spPr>
          <a:xfrm>
            <a:off x="9006839" y="1737360"/>
            <a:ext cx="2560321" cy="1188721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14"/>
          <p:cNvSpPr txBox="1"/>
          <p:nvPr/>
        </p:nvSpPr>
        <p:spPr>
          <a:xfrm>
            <a:off x="9098278" y="1874518"/>
            <a:ext cx="23774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212A33"/>
                </a:solidFill>
              </a:defRPr>
            </a:lvl1pPr>
          </a:lstStyle>
          <a:p>
            <a:pPr/>
            <a:r>
              <a:t>DIFFÉRÉ</a:t>
            </a:r>
          </a:p>
        </p:txBody>
      </p:sp>
      <p:sp>
        <p:nvSpPr>
          <p:cNvPr id="355" name="TextBox 15"/>
          <p:cNvSpPr txBox="1"/>
          <p:nvPr/>
        </p:nvSpPr>
        <p:spPr>
          <a:xfrm>
            <a:off x="9098278" y="2194560"/>
            <a:ext cx="23774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212A3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18 mois</a:t>
            </a:r>
          </a:p>
        </p:txBody>
      </p:sp>
      <p:sp>
        <p:nvSpPr>
          <p:cNvPr id="356" name="Rectangle 16"/>
          <p:cNvSpPr/>
          <p:nvPr/>
        </p:nvSpPr>
        <p:spPr>
          <a:xfrm>
            <a:off x="640080" y="3291840"/>
            <a:ext cx="10972801" cy="3200401"/>
          </a:xfrm>
          <a:prstGeom prst="rect">
            <a:avLst/>
          </a:prstGeom>
          <a:solidFill>
            <a:srgbClr val="212A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17"/>
          <p:cNvSpPr txBox="1"/>
          <p:nvPr/>
        </p:nvSpPr>
        <p:spPr>
          <a:xfrm>
            <a:off x="822959" y="3383279"/>
            <a:ext cx="1060704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C9A96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Nous cherchons un partenaire bancaire long terme</a:t>
            </a:r>
          </a:p>
        </p:txBody>
      </p:sp>
      <p:sp>
        <p:nvSpPr>
          <p:cNvPr id="358" name="TextBox 18"/>
          <p:cNvSpPr txBox="1"/>
          <p:nvPr/>
        </p:nvSpPr>
        <p:spPr>
          <a:xfrm>
            <a:off x="868680" y="3931920"/>
            <a:ext cx="10424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 Plusieurs opérations prévues (professionnalisation de notre activité LCD / LMNP)</a:t>
            </a:r>
          </a:p>
        </p:txBody>
      </p:sp>
      <p:sp>
        <p:nvSpPr>
          <p:cNvPr id="359" name="TextBox 19"/>
          <p:cNvSpPr txBox="1"/>
          <p:nvPr/>
        </p:nvSpPr>
        <p:spPr>
          <a:xfrm>
            <a:off x="868680" y="4297679"/>
            <a:ext cx="10424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 Pierre-Bénite = première opération commune Marc &amp; Antoine d'une série</a:t>
            </a:r>
          </a:p>
        </p:txBody>
      </p:sp>
      <p:sp>
        <p:nvSpPr>
          <p:cNvPr id="360" name="TextBox 20"/>
          <p:cNvSpPr txBox="1"/>
          <p:nvPr/>
        </p:nvSpPr>
        <p:spPr>
          <a:xfrm>
            <a:off x="868680" y="4663440"/>
            <a:ext cx="10424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•  Approche structurée et chiffrée — montée en charge maîtrisée</a:t>
            </a:r>
          </a:p>
        </p:txBody>
      </p:sp>
      <p:sp>
        <p:nvSpPr>
          <p:cNvPr id="361" name="TextBox 21"/>
          <p:cNvSpPr txBox="1"/>
          <p:nvPr/>
        </p:nvSpPr>
        <p:spPr>
          <a:xfrm>
            <a:off x="822959" y="5212079"/>
            <a:ext cx="106070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C9A961"/>
                </a:solidFill>
              </a:defRPr>
            </a:lvl1pPr>
          </a:lstStyle>
          <a:p>
            <a:pPr/>
            <a:r>
              <a:t>Contrepartie commerciale</a:t>
            </a:r>
          </a:p>
        </p:txBody>
      </p:sp>
      <p:sp>
        <p:nvSpPr>
          <p:cNvPr id="362" name="TextBox 22"/>
          <p:cNvSpPr txBox="1"/>
          <p:nvPr/>
        </p:nvSpPr>
        <p:spPr>
          <a:xfrm>
            <a:off x="868680" y="5623559"/>
            <a:ext cx="10424161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Rapatriement de nos comptes professionnels (Marc + Antoine + sociétés)</a:t>
            </a:r>
          </a:p>
        </p:txBody>
      </p:sp>
      <p:sp>
        <p:nvSpPr>
          <p:cNvPr id="363" name="TextBox 23"/>
          <p:cNvSpPr txBox="1"/>
          <p:nvPr/>
        </p:nvSpPr>
        <p:spPr>
          <a:xfrm>
            <a:off x="868680" y="5943599"/>
            <a:ext cx="10424161" cy="287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Cartes bancaires pro et perso</a:t>
            </a:r>
          </a:p>
        </p:txBody>
      </p:sp>
      <p:sp>
        <p:nvSpPr>
          <p:cNvPr id="364" name="TextBox 24"/>
          <p:cNvSpPr txBox="1"/>
          <p:nvPr/>
        </p:nvSpPr>
        <p:spPr>
          <a:xfrm>
            <a:off x="868680" y="6263640"/>
            <a:ext cx="10424161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Prévoyance, assurances, produits patrimoniaux à terme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Rectangle 2"/>
          <p:cNvSpPr/>
          <p:nvPr/>
        </p:nvSpPr>
        <p:spPr>
          <a:xfrm>
            <a:off x="-1" y="3383279"/>
            <a:ext cx="12191697" cy="36577"/>
          </a:xfrm>
          <a:prstGeom prst="rect">
            <a:avLst/>
          </a:prstGeom>
          <a:solidFill>
            <a:srgbClr val="C9A9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3"/>
          <p:cNvSpPr txBox="1"/>
          <p:nvPr/>
        </p:nvSpPr>
        <p:spPr>
          <a:xfrm>
            <a:off x="457199" y="2103120"/>
            <a:ext cx="11247122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7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Merci</a:t>
            </a:r>
          </a:p>
        </p:txBody>
      </p:sp>
      <p:sp>
        <p:nvSpPr>
          <p:cNvPr id="369" name="TextBox 4"/>
          <p:cNvSpPr txBox="1"/>
          <p:nvPr/>
        </p:nvSpPr>
        <p:spPr>
          <a:xfrm>
            <a:off x="457199" y="3657600"/>
            <a:ext cx="1124712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C9A961"/>
                </a:solidFill>
              </a:defRPr>
            </a:lvl1pPr>
          </a:lstStyle>
          <a:p>
            <a:pPr/>
            <a:r>
              <a:t>À votre disposition pour échanger</a:t>
            </a:r>
          </a:p>
        </p:txBody>
      </p:sp>
      <p:sp>
        <p:nvSpPr>
          <p:cNvPr id="370" name="TextBox 5"/>
          <p:cNvSpPr txBox="1"/>
          <p:nvPr/>
        </p:nvSpPr>
        <p:spPr>
          <a:xfrm>
            <a:off x="457199" y="5303520"/>
            <a:ext cx="112471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C9A961"/>
                </a:solidFill>
              </a:defRPr>
            </a:lvl1pPr>
          </a:lstStyle>
          <a:p>
            <a:pPr/>
            <a:r>
              <a:t>Marc Chenut  &amp;  Antoine Bocquet</a:t>
            </a:r>
          </a:p>
        </p:txBody>
      </p:sp>
      <p:sp>
        <p:nvSpPr>
          <p:cNvPr id="371" name="TextBox 6"/>
          <p:cNvSpPr txBox="1"/>
          <p:nvPr/>
        </p:nvSpPr>
        <p:spPr>
          <a:xfrm>
            <a:off x="457199" y="5714999"/>
            <a:ext cx="112471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Annexes : BP financier détaillé (Excel) + note marché (PDF)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